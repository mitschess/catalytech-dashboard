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BC11C8-533E-F55B-D79F-C86D3310FC93}" v="34" dt="2026-08-10T11:18:01.107"/>
    <p1510:client id="{96586FAB-FB0D-84B9-FA59-5FFD3B03342E}" v="6" dt="2026-08-10T14:24:57.0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sha C R Utama Putri - CCO" userId="S::marsha.cipta@capcx.com::ce6c694b-f650-4986-94dd-3c7f7bdf1864" providerId="AD" clId="Web-{5BBC11C8-533E-F55B-D79F-C86D3310FC93}"/>
    <pc:docChg chg="modSld">
      <pc:chgData name="Marsha C R Utama Putri - CCO" userId="S::marsha.cipta@capcx.com::ce6c694b-f650-4986-94dd-3c7f7bdf1864" providerId="AD" clId="Web-{5BBC11C8-533E-F55B-D79F-C86D3310FC93}" dt="2026-08-10T11:18:00.889" v="26" actId="20577"/>
      <pc:docMkLst>
        <pc:docMk/>
      </pc:docMkLst>
      <pc:sldChg chg="delSp modSp">
        <pc:chgData name="Marsha C R Utama Putri - CCO" userId="S::marsha.cipta@capcx.com::ce6c694b-f650-4986-94dd-3c7f7bdf1864" providerId="AD" clId="Web-{5BBC11C8-533E-F55B-D79F-C86D3310FC93}" dt="2026-08-10T11:16:52.309" v="2"/>
        <pc:sldMkLst>
          <pc:docMk/>
          <pc:sldMk cId="0" sldId="256"/>
        </pc:sldMkLst>
        <pc:spChg chg="mod">
          <ac:chgData name="Marsha C R Utama Putri - CCO" userId="S::marsha.cipta@capcx.com::ce6c694b-f650-4986-94dd-3c7f7bdf1864" providerId="AD" clId="Web-{5BBC11C8-533E-F55B-D79F-C86D3310FC93}" dt="2026-08-10T11:16:48.199" v="1" actId="20577"/>
          <ac:spMkLst>
            <pc:docMk/>
            <pc:sldMk cId="0" sldId="256"/>
            <ac:spMk id="8" creationId="{00000000-0000-0000-0000-000000000000}"/>
          </ac:spMkLst>
        </pc:spChg>
        <pc:spChg chg="del">
          <ac:chgData name="Marsha C R Utama Putri - CCO" userId="S::marsha.cipta@capcx.com::ce6c694b-f650-4986-94dd-3c7f7bdf1864" providerId="AD" clId="Web-{5BBC11C8-533E-F55B-D79F-C86D3310FC93}" dt="2026-08-10T11:16:52.309" v="2"/>
          <ac:spMkLst>
            <pc:docMk/>
            <pc:sldMk cId="0" sldId="256"/>
            <ac:spMk id="22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5BBC11C8-533E-F55B-D79F-C86D3310FC93}" dt="2026-08-10T11:17:00.403" v="6"/>
        <pc:sldMkLst>
          <pc:docMk/>
          <pc:sldMk cId="0" sldId="257"/>
        </pc:sldMkLst>
        <pc:spChg chg="del mod">
          <ac:chgData name="Marsha C R Utama Putri - CCO" userId="S::marsha.cipta@capcx.com::ce6c694b-f650-4986-94dd-3c7f7bdf1864" providerId="AD" clId="Web-{5BBC11C8-533E-F55B-D79F-C86D3310FC93}" dt="2026-08-10T11:17:00.403" v="6"/>
          <ac:spMkLst>
            <pc:docMk/>
            <pc:sldMk cId="0" sldId="257"/>
            <ac:spMk id="63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5BBC11C8-533E-F55B-D79F-C86D3310FC93}" dt="2026-08-10T11:17:06.231" v="7"/>
        <pc:sldMkLst>
          <pc:docMk/>
          <pc:sldMk cId="0" sldId="258"/>
        </pc:sldMkLst>
        <pc:spChg chg="del">
          <ac:chgData name="Marsha C R Utama Putri - CCO" userId="S::marsha.cipta@capcx.com::ce6c694b-f650-4986-94dd-3c7f7bdf1864" providerId="AD" clId="Web-{5BBC11C8-533E-F55B-D79F-C86D3310FC93}" dt="2026-08-10T11:17:06.231" v="7"/>
          <ac:spMkLst>
            <pc:docMk/>
            <pc:sldMk cId="0" sldId="258"/>
            <ac:spMk id="27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5BBC11C8-533E-F55B-D79F-C86D3310FC93}" dt="2026-08-10T11:17:14.497" v="10"/>
        <pc:sldMkLst>
          <pc:docMk/>
          <pc:sldMk cId="0" sldId="259"/>
        </pc:sldMkLst>
        <pc:spChg chg="del mod">
          <ac:chgData name="Marsha C R Utama Putri - CCO" userId="S::marsha.cipta@capcx.com::ce6c694b-f650-4986-94dd-3c7f7bdf1864" providerId="AD" clId="Web-{5BBC11C8-533E-F55B-D79F-C86D3310FC93}" dt="2026-08-10T11:17:14.497" v="10"/>
          <ac:spMkLst>
            <pc:docMk/>
            <pc:sldMk cId="0" sldId="259"/>
            <ac:spMk id="28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5BBC11C8-533E-F55B-D79F-C86D3310FC93}" dt="2026-08-10T11:17:20.856" v="13"/>
        <pc:sldMkLst>
          <pc:docMk/>
          <pc:sldMk cId="0" sldId="260"/>
        </pc:sldMkLst>
        <pc:spChg chg="del mod">
          <ac:chgData name="Marsha C R Utama Putri - CCO" userId="S::marsha.cipta@capcx.com::ce6c694b-f650-4986-94dd-3c7f7bdf1864" providerId="AD" clId="Web-{5BBC11C8-533E-F55B-D79F-C86D3310FC93}" dt="2026-08-10T11:17:20.856" v="13"/>
          <ac:spMkLst>
            <pc:docMk/>
            <pc:sldMk cId="0" sldId="260"/>
            <ac:spMk id="19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5BBC11C8-533E-F55B-D79F-C86D3310FC93}" dt="2026-08-10T11:17:27.247" v="16"/>
        <pc:sldMkLst>
          <pc:docMk/>
          <pc:sldMk cId="0" sldId="261"/>
        </pc:sldMkLst>
        <pc:spChg chg="del mod">
          <ac:chgData name="Marsha C R Utama Putri - CCO" userId="S::marsha.cipta@capcx.com::ce6c694b-f650-4986-94dd-3c7f7bdf1864" providerId="AD" clId="Web-{5BBC11C8-533E-F55B-D79F-C86D3310FC93}" dt="2026-08-10T11:17:27.247" v="16"/>
          <ac:spMkLst>
            <pc:docMk/>
            <pc:sldMk cId="0" sldId="261"/>
            <ac:spMk id="58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5BBC11C8-533E-F55B-D79F-C86D3310FC93}" dt="2026-08-10T11:17:31.700" v="17"/>
        <pc:sldMkLst>
          <pc:docMk/>
          <pc:sldMk cId="0" sldId="262"/>
        </pc:sldMkLst>
        <pc:spChg chg="del">
          <ac:chgData name="Marsha C R Utama Putri - CCO" userId="S::marsha.cipta@capcx.com::ce6c694b-f650-4986-94dd-3c7f7bdf1864" providerId="AD" clId="Web-{5BBC11C8-533E-F55B-D79F-C86D3310FC93}" dt="2026-08-10T11:17:31.700" v="17"/>
          <ac:spMkLst>
            <pc:docMk/>
            <pc:sldMk cId="0" sldId="262"/>
            <ac:spMk id="52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5BBC11C8-533E-F55B-D79F-C86D3310FC93}" dt="2026-08-10T11:17:39.997" v="20"/>
        <pc:sldMkLst>
          <pc:docMk/>
          <pc:sldMk cId="0" sldId="263"/>
        </pc:sldMkLst>
        <pc:spChg chg="del mod">
          <ac:chgData name="Marsha C R Utama Putri - CCO" userId="S::marsha.cipta@capcx.com::ce6c694b-f650-4986-94dd-3c7f7bdf1864" providerId="AD" clId="Web-{5BBC11C8-533E-F55B-D79F-C86D3310FC93}" dt="2026-08-10T11:17:39.997" v="20"/>
          <ac:spMkLst>
            <pc:docMk/>
            <pc:sldMk cId="0" sldId="263"/>
            <ac:spMk id="30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5BBC11C8-533E-F55B-D79F-C86D3310FC93}" dt="2026-08-10T11:17:43.638" v="21"/>
        <pc:sldMkLst>
          <pc:docMk/>
          <pc:sldMk cId="0" sldId="264"/>
        </pc:sldMkLst>
        <pc:spChg chg="del">
          <ac:chgData name="Marsha C R Utama Putri - CCO" userId="S::marsha.cipta@capcx.com::ce6c694b-f650-4986-94dd-3c7f7bdf1864" providerId="AD" clId="Web-{5BBC11C8-533E-F55B-D79F-C86D3310FC93}" dt="2026-08-10T11:17:43.638" v="21"/>
          <ac:spMkLst>
            <pc:docMk/>
            <pc:sldMk cId="0" sldId="264"/>
            <ac:spMk id="70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5BBC11C8-533E-F55B-D79F-C86D3310FC93}" dt="2026-08-10T11:17:51.841" v="24"/>
        <pc:sldMkLst>
          <pc:docMk/>
          <pc:sldMk cId="0" sldId="265"/>
        </pc:sldMkLst>
        <pc:spChg chg="del mod">
          <ac:chgData name="Marsha C R Utama Putri - CCO" userId="S::marsha.cipta@capcx.com::ce6c694b-f650-4986-94dd-3c7f7bdf1864" providerId="AD" clId="Web-{5BBC11C8-533E-F55B-D79F-C86D3310FC93}" dt="2026-08-10T11:17:51.841" v="24"/>
          <ac:spMkLst>
            <pc:docMk/>
            <pc:sldMk cId="0" sldId="265"/>
            <ac:spMk id="94" creationId="{00000000-0000-0000-0000-000000000000}"/>
          </ac:spMkLst>
        </pc:spChg>
      </pc:sldChg>
      <pc:sldChg chg="modSp">
        <pc:chgData name="Marsha C R Utama Putri - CCO" userId="S::marsha.cipta@capcx.com::ce6c694b-f650-4986-94dd-3c7f7bdf1864" providerId="AD" clId="Web-{5BBC11C8-533E-F55B-D79F-C86D3310FC93}" dt="2026-08-10T11:18:00.889" v="26" actId="20577"/>
        <pc:sldMkLst>
          <pc:docMk/>
          <pc:sldMk cId="0" sldId="266"/>
        </pc:sldMkLst>
        <pc:spChg chg="mod">
          <ac:chgData name="Marsha C R Utama Putri - CCO" userId="S::marsha.cipta@capcx.com::ce6c694b-f650-4986-94dd-3c7f7bdf1864" providerId="AD" clId="Web-{5BBC11C8-533E-F55B-D79F-C86D3310FC93}" dt="2026-08-10T11:18:00.889" v="26" actId="20577"/>
          <ac:spMkLst>
            <pc:docMk/>
            <pc:sldMk cId="0" sldId="266"/>
            <ac:spMk id="28" creationId="{00000000-0000-0000-0000-000000000000}"/>
          </ac:spMkLst>
        </pc:spChg>
      </pc:sldChg>
    </pc:docChg>
  </pc:docChgLst>
  <pc:docChgLst>
    <pc:chgData name="Brigitta Claudia - ITD" userId="S::brigitta.claudia@capcx.com::a6e9c753-94d6-4903-85d4-3251693f7260" providerId="AD" clId="Web-{96586FAB-FB0D-84B9-FA59-5FFD3B03342E}"/>
    <pc:docChg chg="modSld">
      <pc:chgData name="Brigitta Claudia - ITD" userId="S::brigitta.claudia@capcx.com::a6e9c753-94d6-4903-85d4-3251693f7260" providerId="AD" clId="Web-{96586FAB-FB0D-84B9-FA59-5FFD3B03342E}" dt="2026-08-10T14:24:57.086" v="4" actId="1076"/>
      <pc:docMkLst>
        <pc:docMk/>
      </pc:docMkLst>
      <pc:sldChg chg="modSp">
        <pc:chgData name="Brigitta Claudia - ITD" userId="S::brigitta.claudia@capcx.com::a6e9c753-94d6-4903-85d4-3251693f7260" providerId="AD" clId="Web-{96586FAB-FB0D-84B9-FA59-5FFD3B03342E}" dt="2026-08-10T14:24:39.477" v="1" actId="20577"/>
        <pc:sldMkLst>
          <pc:docMk/>
          <pc:sldMk cId="0" sldId="263"/>
        </pc:sldMkLst>
        <pc:spChg chg="mod">
          <ac:chgData name="Brigitta Claudia - ITD" userId="S::brigitta.claudia@capcx.com::a6e9c753-94d6-4903-85d4-3251693f7260" providerId="AD" clId="Web-{96586FAB-FB0D-84B9-FA59-5FFD3B03342E}" dt="2026-08-10T14:24:39.477" v="1" actId="20577"/>
          <ac:spMkLst>
            <pc:docMk/>
            <pc:sldMk cId="0" sldId="263"/>
            <ac:spMk id="28" creationId="{00000000-0000-0000-0000-000000000000}"/>
          </ac:spMkLst>
        </pc:spChg>
      </pc:sldChg>
      <pc:sldChg chg="delSp modSp">
        <pc:chgData name="Brigitta Claudia - ITD" userId="S::brigitta.claudia@capcx.com::a6e9c753-94d6-4903-85d4-3251693f7260" providerId="AD" clId="Web-{96586FAB-FB0D-84B9-FA59-5FFD3B03342E}" dt="2026-08-10T14:24:57.086" v="4" actId="1076"/>
        <pc:sldMkLst>
          <pc:docMk/>
          <pc:sldMk cId="0" sldId="265"/>
        </pc:sldMkLst>
        <pc:spChg chg="mod">
          <ac:chgData name="Brigitta Claudia - ITD" userId="S::brigitta.claudia@capcx.com::a6e9c753-94d6-4903-85d4-3251693f7260" providerId="AD" clId="Web-{96586FAB-FB0D-84B9-FA59-5FFD3B03342E}" dt="2026-08-10T14:24:57.086" v="4" actId="1076"/>
          <ac:spMkLst>
            <pc:docMk/>
            <pc:sldMk cId="0" sldId="265"/>
            <ac:spMk id="87" creationId="{00000000-0000-0000-0000-000000000000}"/>
          </ac:spMkLst>
        </pc:spChg>
        <pc:spChg chg="del">
          <ac:chgData name="Brigitta Claudia - ITD" userId="S::brigitta.claudia@capcx.com::a6e9c753-94d6-4903-85d4-3251693f7260" providerId="AD" clId="Web-{96586FAB-FB0D-84B9-FA59-5FFD3B03342E}" dt="2026-08-10T14:24:54.618" v="3"/>
          <ac:spMkLst>
            <pc:docMk/>
            <pc:sldMk cId="0" sldId="265"/>
            <ac:spMk id="9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2A4A"/>
                </a:solidFill>
              </a:rPr>
              <a:t>Failure Case — Before vs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Cases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24B6-4C13-896B-1822B10B57ED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24B6-4C13-896B-1822B10B57E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B6-4C13-896B-1822B10B57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73152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01E"/>
                </a:solidFill>
                <a:latin typeface="Calibri"/>
              </a:rPr>
              <a:t>ABNORMALITY REPORT — RCA &amp; CAPA/PAA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768096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9E1F2"/>
                </a:solidFill>
                <a:latin typeface="Calibri"/>
              </a:rPr>
              <a:t>Equipment Related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Cracked Gas Compressor KO-3201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2B01E"/>
                </a:solidFill>
                <a:latin typeface="Georgia"/>
              </a:rPr>
              <a:t>High Radial Vibration Trip (Bearing Distress)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00784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AR-2026-ZCU-0142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TAG /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87168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KO-3201  |  ZCU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DATE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73552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29 Apr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22192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PRE-RISK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II  (Score 4000)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608576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PIC (RCA)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46320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REL-05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9E1F2"/>
                </a:solidFill>
                <a:latin typeface="Calibri"/>
              </a:rPr>
              <a:t>Procedure No. RCA-P-0050-03  •  Form RCA-F-0075-02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AR Details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28216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728216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28216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Title /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8216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Cracked Gas Compressor KO-3201 — High Radial Vibration Trip (Bearing Distress)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685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276856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7685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AR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7685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OPEDR (Operation) —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60904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2660904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Plant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60904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ZCU  (Zeta Cracker Unit)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044952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Tag / Eq.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44952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KO-3201  |  Class 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3429000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ROT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13048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51760" y="3813048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Occurrence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13048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29 Apr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197096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19709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9709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30 Apr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81144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4581144"/>
            <a:ext cx="42976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581144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Immediate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81144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Controlled shutdown of compression train, replace DE journal bearing, flush lube-oil system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137160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3465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Catastrophic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0353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PRE-RISK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II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109728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3465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DOWNTIME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32.0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8408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353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$1584.0k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94760"/>
            <a:ext cx="4297680" cy="2331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79392"/>
            <a:ext cx="393192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Cracked Gas Compressor KO-3201 tripped on high-high radial vibration on 29-Apr-2026 due to journal-bearing babbitt distress driven by water-contaminated lube oil.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GENERAL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Chronology of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03/11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36576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6696" y="1463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27-Apr-2026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ZCU compression train running normal; KO-3201 drive-end (DE) radial vibration trending up (from 28 to 52 micron over 5 days).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3774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3317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29-Apr-2026 06:40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317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KO-3201 DE vibration reached high-high setpoint (75 micron); machinery protection system tripped the compressor.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32918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2461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29-Apr-2026 08:10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461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Plant rate cut to minimum; lube-oil sample taken — water content 1,800 ppm (spec &lt; 500 ppm).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2062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1605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29-Apr-2026 18:00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1605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DE journal bearing removed — babbitt wiped/distressed. Lube-oil cooler tube leak confirmed.</a:t>
            </a:r>
          </a:p>
        </p:txBody>
      </p:sp>
      <p:sp>
        <p:nvSpPr>
          <p:cNvPr id="21" name="Oval 20"/>
          <p:cNvSpPr/>
          <p:nvPr/>
        </p:nvSpPr>
        <p:spPr>
          <a:xfrm>
            <a:off x="996696" y="51206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30-Apr-2026 14:40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0749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New bearing installed, lube-oil system flushed, cooler tube plugged, train restarted to 55 T/H.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989320"/>
            <a:ext cx="9692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Problem: Cracked Gas Compressor KO-3201 tripped on high-high radial vibration on 29-Apr-2026 due to journal-bearing babbitt distress driven by water-contaminated lube oil.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Past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04/11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HISTORICAL DATA &amp;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KO-3201 DE vibration baseline is 25–30 micron. Trend shows a steady rise over 5 days preceding the trip. Lube-oil water content had drifted above 500 ppm for ~2 weeks without an online alarm.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 SUMMARY (4W)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65960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58568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KO-3201 tripped on high-high radial vibration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907792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90779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00400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29-Apr-2026 (06:40)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49624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49624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Scope: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42232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ZCU compression train shutdown — full ethylene rate loss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791456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Uptime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84064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32.0 hours  →  1760.0 ton  →  $1584.0k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TARGET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Actual vs Target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1234440"/>
          </a:xfrm>
          <a:prstGeom prst="rect">
            <a:avLst/>
          </a:prstGeom>
          <a:solidFill>
            <a:srgbClr val="FB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ACTUAL CONDITION (Before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Compressor trip due to bearing distress from contaminated lube oil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486400" cy="12344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alibri"/>
              </a:rPr>
              <a:t>TARGET CONDITION (Project 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compressor trip due to lube-oil contamination (water &lt; 500 ppm, vibration &lt; 45 micron)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TARGET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1206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Recurrence of this equipment failure mode: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     Before = 1 case   →   Target = 0 case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417320"/>
          <a:ext cx="5212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Parameter Verification (4P)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Phenomenon /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Radial vibration above alarm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1766" y="1719072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7486" y="1719072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7547" y="1719072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3267" y="1719072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DE vibration rose to 75 micron vs 45 micron alarm — bearing distress.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32304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32304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32304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32304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Lube-oil water content above spec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1766" y="2432304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7486" y="2432304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7547" y="2432304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3267" y="2432304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Water content 1,800 ppm vs &lt; 500 ppm spec — film breakdown.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145536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145536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145536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Lube-oil supply pressure low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1766" y="3145536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7486" y="3145536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7547" y="3145536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3267" y="3145536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Header pressure 1.8 barg — within normal band.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58768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858768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858768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beyond service life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1766" y="3858768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7486" y="3858768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7547" y="3858768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3267" y="3858768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in service 3 years vs 6-year design — within life.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2494" y="4572000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8214" y="4572000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Process surge / anti-surge margin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1766" y="4572000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7486" y="4572000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7547" y="4572000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3267" y="4572000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Anti-surge margin maintained; no surge event recorded.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NG = current condition not meeting standard (problem)   •   G = meets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4M + 1E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 / Machine / Method / Material /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online water-in-oil monitoring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5" y="1719072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5" y="1719072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0116" y="1719072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5836" y="1719072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Water content only checked by weekly grab sample — slow detection.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68880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68880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Lube-oil cooler integrity not trended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5" y="2468880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5" y="2468880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0116" y="2468880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5836" y="2468880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routine cooler tube leak check between TAs.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18688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218688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218688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Vibration alert limits too wide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5" y="3218688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5" y="3218688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0116" y="3218688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15836" y="3218688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Alert at 60 micron gave little lead time before 75 micron trip.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68496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968496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968496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968496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Lube-oil purifier not in service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5" y="3968496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0055" y="3968496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0116" y="3968496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5836" y="3968496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Purifier available and operational.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806440"/>
            <a:ext cx="146304" cy="56692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ROOT CAUSE:  Journal-bearing babbitt distress caused by degraded oil-film strength from water ingress via a leaking lube-oil cooler tube, undetected due to absence of online water-in-oil monitoring, leading to rising vibration and a high-high trip.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RCA — MATRIX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Impact vs Control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2468880" cy="1143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2468880" cy="1143000"/>
          </a:xfrm>
          <a:prstGeom prst="rect">
            <a:avLst/>
          </a:prstGeom>
          <a:solidFill>
            <a:srgbClr val="F8C4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697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697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solidFill>
            <a:srgbClr val="F6A8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2468880" cy="1143000"/>
          </a:xfrm>
          <a:prstGeom prst="rect">
            <a:avLst/>
          </a:prstGeom>
          <a:solidFill>
            <a:srgbClr val="CFE8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3840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X1  X2 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P1  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67528"/>
            <a:ext cx="74066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IMPACT  →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40080" y="1554480"/>
            <a:ext cx="1280160" cy="3429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CONTROL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1554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697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40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859536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5975603"/>
            <a:ext cx="8229600" cy="21031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Prioritized root causes (high impact) are addressed first via Corrective &amp; Pro-Active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Corrective &amp; Pro-Active Action (CAPAA)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19072"/>
            <a:ext cx="66385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494" y="1719072"/>
            <a:ext cx="60853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8214" y="171907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Repair leaking lube-oil cooler tube (plug + re-test)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7826" y="1719072"/>
            <a:ext cx="143835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3546" y="171907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30-Apr-2026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6177" y="1719072"/>
            <a:ext cx="110642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1897" y="171907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719072"/>
            <a:ext cx="177027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8321" y="171907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E7D32"/>
                </a:solidFill>
                <a:latin typeface="Calibri"/>
              </a:rPr>
              <a:t>Closed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42032"/>
            <a:ext cx="66385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2494" y="2542032"/>
            <a:ext cx="6085332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8214" y="254203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Install online water-in-oil sensor on KO-3201 lube system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7826" y="2542032"/>
            <a:ext cx="1438351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546" y="254203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30-Jun-2026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6177" y="2542032"/>
            <a:ext cx="110642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1897" y="254203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2601" y="2542032"/>
            <a:ext cx="1770278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88321" y="254203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68A00"/>
                </a:solidFill>
                <a:latin typeface="Calibri"/>
              </a:rPr>
              <a:t>In Progress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47872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PRO-ACTIVE ACTION (roll-out to similar equipment)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Pro-Active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42816"/>
            <a:ext cx="66385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42816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2494" y="4242816"/>
            <a:ext cx="60853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58214" y="4242816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Retube lube-oil cooler at next TA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7826" y="4242816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3546" y="4242816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31-Oct-2026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6177" y="4242816"/>
            <a:ext cx="110642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81897" y="4242816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STA-02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2601" y="4242816"/>
            <a:ext cx="177027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88321" y="4242816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01184"/>
            <a:ext cx="66385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901184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2494" y="4901184"/>
            <a:ext cx="6085332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58214" y="4901184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Apply online water-in-oil monitoring to KO-3202/3203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7826" y="4901184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43546" y="4901184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30-Sep-2026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6177" y="4901184"/>
            <a:ext cx="110642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81897" y="4901184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4901184"/>
            <a:ext cx="177027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88321" y="4901184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AR-2026-ZCU-0142  |  KO-3201 — ZCU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Preventive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PREVENTIVE / PRO-ACTIVE ACTION (Good Condition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Possible 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Preventive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7744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3136" y="1920240"/>
            <a:ext cx="265541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856" y="1920240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Vibration limits too wide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8553" y="1920240"/>
            <a:ext cx="486826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4273" y="1920240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Tighten KO-3201 vibration alert to 45 micron &amp; shorten trend-review cadence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6818" y="1920240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2538" y="1920240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30-May-2026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5169" y="1920240"/>
            <a:ext cx="13277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0889" y="1920240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78608"/>
            <a:ext cx="774496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3136" y="2578608"/>
            <a:ext cx="2655417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68856" y="2578608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Cooler integrity not trended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8553" y="2578608"/>
            <a:ext cx="4868265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4273" y="2578608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lube-oil cooler dP &amp; conductivity trend to reliability dashboard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46818" y="2578608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2538" y="2578608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30-Jun-2026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5169" y="2578608"/>
            <a:ext cx="132770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0889" y="2578608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65576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RISK ANALYSIS OF CORRECTIVE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Potential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Tighten vibration alert to 45 micron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46627" y="4160520"/>
            <a:ext cx="265541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92347" y="4160520"/>
            <a:ext cx="256397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Nuisance alerts on start-up transients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2044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7764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start-up alarm suppression timer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0031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1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30-May-2026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06455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52175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PM SCHEDULE ESTABLISHED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PM No.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751576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5751576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55064" y="5751576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0784" y="5751576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 lube-oil water-content &amp; particle count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14892" y="5751576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60612" y="5751576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Reliability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5170" y="5751576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30890" y="5751576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Weekly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62472"/>
            <a:ext cx="1106424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6062472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55064" y="6062472"/>
            <a:ext cx="685982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00784" y="6062472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6-monthly lube-oil cooler leak test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14892" y="6062472"/>
            <a:ext cx="177027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60612" y="6062472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Static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85170" y="6062472"/>
            <a:ext cx="132770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30890" y="6062472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6-monthly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" y="6373368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94360" y="6373368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655064" y="6373368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700784" y="6373368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Continuous vibration trend review KO-3201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514892" y="6373368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560612" y="6373368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Reliability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0285170" y="6373368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10330890" y="6373368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Daily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Downtime &amp; Closure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32.0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1760.0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91440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ESTIMATED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$1584.0k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697480" cy="914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PRE-RISK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II (4000)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029200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Journal-bearing babbitt distress caused by degraded oil-film strength from water ingress via a leaking lube-oil cooler tube, undetected due to absence of online water-in-oil monitoring, leading to rising vibration and a high-high trip.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KEY CORRECTIVE / PRO-ACTIVE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Repair leaking lube-oil cooler tube (plug + re-test)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Install online water-in-oil sensor on KO-3201 lube system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Tighten KO-3201 vibration alert to 45 micron &amp; shorten trend-review cadence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1795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D9E1F2"/>
                </a:solidFill>
                <a:latin typeface="Calibri"/>
              </a:rPr>
              <a:t>AR-2026-ZCU-0142   •   KO-3201 — ZCU</a:t>
            </a:r>
            <a:endParaRPr lang="en-US" sz="1000" b="0" i="1">
              <a:solidFill>
                <a:srgbClr val="D9E1F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71efe2-5848-4835-ba9f-8faf6945352d" xsi:nil="true"/>
    <lcf76f155ced4ddcb4097134ff3c332f xmlns="831850e5-ca91-43e1-afa5-cf72b3205c9b">
      <Terms xmlns="http://schemas.microsoft.com/office/infopath/2007/PartnerControls"/>
    </lcf76f155ced4ddcb4097134ff3c332f>
    <Status xmlns="831850e5-ca91-43e1-afa5-cf72b3205c9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2C4518E1ED9C4C808F6F104771DAF4" ma:contentTypeVersion="18" ma:contentTypeDescription="Create a new document." ma:contentTypeScope="" ma:versionID="58198918a17d838bcb25a0e6a8e7af6d">
  <xsd:schema xmlns:xsd="http://www.w3.org/2001/XMLSchema" xmlns:xs="http://www.w3.org/2001/XMLSchema" xmlns:p="http://schemas.microsoft.com/office/2006/metadata/properties" xmlns:ns2="831850e5-ca91-43e1-afa5-cf72b3205c9b" xmlns:ns3="0a71efe2-5848-4835-ba9f-8faf6945352d" targetNamespace="http://schemas.microsoft.com/office/2006/metadata/properties" ma:root="true" ma:fieldsID="dbb7d9c8a963165d3a7bcebf80db274b" ns2:_="" ns3:_="">
    <xsd:import namespace="831850e5-ca91-43e1-afa5-cf72b3205c9b"/>
    <xsd:import namespace="0a71efe2-5848-4835-ba9f-8faf694535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1850e5-ca91-43e1-afa5-cf72b3205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4cbfe34-5b9c-4d8b-9c6a-ff67f326de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description="Status activity" ma:format="Dropdown" ma:internalName="Status">
      <xsd:simpleType>
        <xsd:restriction base="dms:Choice">
          <xsd:enumeration value="To do"/>
          <xsd:enumeration value="In Progress"/>
          <xsd:enumeration value="Complete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1efe2-5848-4835-ba9f-8faf6945352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ccd0597-706a-4593-b691-8b842788275c}" ma:internalName="TaxCatchAll" ma:showField="CatchAllData" ma:web="0a71efe2-5848-4835-ba9f-8faf694535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DF3FEB-070D-4E03-830B-794CB15BC291}">
  <ds:schemaRefs>
    <ds:schemaRef ds:uri="http://schemas.microsoft.com/office/2006/metadata/properties"/>
    <ds:schemaRef ds:uri="http://schemas.microsoft.com/office/infopath/2007/PartnerControls"/>
    <ds:schemaRef ds:uri="0a71efe2-5848-4835-ba9f-8faf6945352d"/>
    <ds:schemaRef ds:uri="831850e5-ca91-43e1-afa5-cf72b3205c9b"/>
  </ds:schemaRefs>
</ds:datastoreItem>
</file>

<file path=customXml/itemProps2.xml><?xml version="1.0" encoding="utf-8"?>
<ds:datastoreItem xmlns:ds="http://schemas.openxmlformats.org/officeDocument/2006/customXml" ds:itemID="{87AB6508-FD31-4ED6-B256-061807B7A10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195410-40F1-4B5A-9205-CFDBE8B638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1850e5-ca91-43e1-afa5-cf72b3205c9b"/>
    <ds:schemaRef ds:uri="0a71efe2-5848-4835-ba9f-8faf694535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6ac4c88-3875-4bc2-aac4-371aa6c119c2}" enabled="1" method="Standard" siteId="{a289e960-a538-4db3-adf0-845b57e616c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18</cp:revision>
  <dcterms:created xsi:type="dcterms:W3CDTF">2013-01-27T09:14:16Z</dcterms:created>
  <dcterms:modified xsi:type="dcterms:W3CDTF">2026-08-10T14:24:59Z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0x010100F52C4518E1ED9C4C808F6F104771DAF4</vt:lpwstr>
  </property>
  <property fmtid="{D5CDD505-2E9C-101B-9397-08002B2CF9AE}" pid="3" name="MediaServiceImageTags">
    <vt:lpwstr/>
  </property>
</Properties>
</file>