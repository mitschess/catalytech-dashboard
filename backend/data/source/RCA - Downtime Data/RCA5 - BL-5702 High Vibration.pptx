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07DFE9-DB1F-9DA6-00E6-3550C5C7D82D}" v="27" dt="2026-08-10T11:23:21.854"/>
    <p1510:client id="{2F0A681F-1260-E030-39DC-D8CB099A6A29}" v="3" dt="2026-08-10T14:23:28.2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gitta Claudia - ITD" userId="S::brigitta.claudia@capcx.com::a6e9c753-94d6-4903-85d4-3251693f7260" providerId="AD" clId="Web-{2F0A681F-1260-E030-39DC-D8CB099A6A29}"/>
    <pc:docChg chg="modSld">
      <pc:chgData name="Brigitta Claudia - ITD" userId="S::brigitta.claudia@capcx.com::a6e9c753-94d6-4903-85d4-3251693f7260" providerId="AD" clId="Web-{2F0A681F-1260-E030-39DC-D8CB099A6A29}" dt="2026-08-10T14:23:28.211" v="2"/>
      <pc:docMkLst>
        <pc:docMk/>
      </pc:docMkLst>
      <pc:sldChg chg="delSp modSp">
        <pc:chgData name="Brigitta Claudia - ITD" userId="S::brigitta.claudia@capcx.com::a6e9c753-94d6-4903-85d4-3251693f7260" providerId="AD" clId="Web-{2F0A681F-1260-E030-39DC-D8CB099A6A29}" dt="2026-08-10T14:23:28.211" v="2"/>
        <pc:sldMkLst>
          <pc:docMk/>
          <pc:sldMk cId="0" sldId="265"/>
        </pc:sldMkLst>
        <pc:spChg chg="mod">
          <ac:chgData name="Brigitta Claudia - ITD" userId="S::brigitta.claudia@capcx.com::a6e9c753-94d6-4903-85d4-3251693f7260" providerId="AD" clId="Web-{2F0A681F-1260-E030-39DC-D8CB099A6A29}" dt="2026-08-10T14:23:17.164" v="1" actId="1076"/>
          <ac:spMkLst>
            <pc:docMk/>
            <pc:sldMk cId="0" sldId="265"/>
            <ac:spMk id="87" creationId="{00000000-0000-0000-0000-000000000000}"/>
          </ac:spMkLst>
        </pc:spChg>
        <pc:spChg chg="del">
          <ac:chgData name="Brigitta Claudia - ITD" userId="S::brigitta.claudia@capcx.com::a6e9c753-94d6-4903-85d4-3251693f7260" providerId="AD" clId="Web-{2F0A681F-1260-E030-39DC-D8CB099A6A29}" dt="2026-08-10T14:23:28.211" v="2"/>
          <ac:spMkLst>
            <pc:docMk/>
            <pc:sldMk cId="0" sldId="265"/>
            <ac:spMk id="93" creationId="{00000000-0000-0000-0000-000000000000}"/>
          </ac:spMkLst>
        </pc:spChg>
      </pc:sldChg>
    </pc:docChg>
  </pc:docChgLst>
  <pc:docChgLst>
    <pc:chgData name="Marsha C R Utama Putri - CCO" userId="S::marsha.cipta@capcx.com::ce6c694b-f650-4986-94dd-3c7f7bdf1864" providerId="AD" clId="Web-{1007DFE9-DB1F-9DA6-00E6-3550C5C7D82D}"/>
    <pc:docChg chg="modSld">
      <pc:chgData name="Marsha C R Utama Putri - CCO" userId="S::marsha.cipta@capcx.com::ce6c694b-f650-4986-94dd-3c7f7bdf1864" providerId="AD" clId="Web-{1007DFE9-DB1F-9DA6-00E6-3550C5C7D82D}" dt="2026-08-10T11:23:20.853" v="20" actId="20577"/>
      <pc:docMkLst>
        <pc:docMk/>
      </pc:docMkLst>
      <pc:sldChg chg="addSp delSp modSp">
        <pc:chgData name="Marsha C R Utama Putri - CCO" userId="S::marsha.cipta@capcx.com::ce6c694b-f650-4986-94dd-3c7f7bdf1864" providerId="AD" clId="Web-{1007DFE9-DB1F-9DA6-00E6-3550C5C7D82D}" dt="2026-08-10T11:22:30.758" v="4"/>
        <pc:sldMkLst>
          <pc:docMk/>
          <pc:sldMk cId="0" sldId="256"/>
        </pc:sldMkLst>
        <pc:spChg chg="add del mod">
          <ac:chgData name="Marsha C R Utama Putri - CCO" userId="S::marsha.cipta@capcx.com::ce6c694b-f650-4986-94dd-3c7f7bdf1864" providerId="AD" clId="Web-{1007DFE9-DB1F-9DA6-00E6-3550C5C7D82D}" dt="2026-08-10T11:22:26.383" v="3" actId="20577"/>
          <ac:spMkLst>
            <pc:docMk/>
            <pc:sldMk cId="0" sldId="256"/>
            <ac:spMk id="8" creationId="{00000000-0000-0000-0000-000000000000}"/>
          </ac:spMkLst>
        </pc:spChg>
        <pc:spChg chg="del">
          <ac:chgData name="Marsha C R Utama Putri - CCO" userId="S::marsha.cipta@capcx.com::ce6c694b-f650-4986-94dd-3c7f7bdf1864" providerId="AD" clId="Web-{1007DFE9-DB1F-9DA6-00E6-3550C5C7D82D}" dt="2026-08-10T11:22:30.758" v="4"/>
          <ac:spMkLst>
            <pc:docMk/>
            <pc:sldMk cId="0" sldId="256"/>
            <ac:spMk id="22" creationId="{00000000-0000-0000-0000-000000000000}"/>
          </ac:spMkLst>
        </pc:spChg>
      </pc:sldChg>
      <pc:sldChg chg="delSp">
        <pc:chgData name="Marsha C R Utama Putri - CCO" userId="S::marsha.cipta@capcx.com::ce6c694b-f650-4986-94dd-3c7f7bdf1864" providerId="AD" clId="Web-{1007DFE9-DB1F-9DA6-00E6-3550C5C7D82D}" dt="2026-08-10T11:22:37.586" v="5"/>
        <pc:sldMkLst>
          <pc:docMk/>
          <pc:sldMk cId="0" sldId="257"/>
        </pc:sldMkLst>
        <pc:spChg chg="del">
          <ac:chgData name="Marsha C R Utama Putri - CCO" userId="S::marsha.cipta@capcx.com::ce6c694b-f650-4986-94dd-3c7f7bdf1864" providerId="AD" clId="Web-{1007DFE9-DB1F-9DA6-00E6-3550C5C7D82D}" dt="2026-08-10T11:22:37.586" v="5"/>
          <ac:spMkLst>
            <pc:docMk/>
            <pc:sldMk cId="0" sldId="257"/>
            <ac:spMk id="63" creationId="{00000000-0000-0000-0000-000000000000}"/>
          </ac:spMkLst>
        </pc:spChg>
      </pc:sldChg>
      <pc:sldChg chg="delSp">
        <pc:chgData name="Marsha C R Utama Putri - CCO" userId="S::marsha.cipta@capcx.com::ce6c694b-f650-4986-94dd-3c7f7bdf1864" providerId="AD" clId="Web-{1007DFE9-DB1F-9DA6-00E6-3550C5C7D82D}" dt="2026-08-10T11:22:41.665" v="6"/>
        <pc:sldMkLst>
          <pc:docMk/>
          <pc:sldMk cId="0" sldId="258"/>
        </pc:sldMkLst>
        <pc:spChg chg="del">
          <ac:chgData name="Marsha C R Utama Putri - CCO" userId="S::marsha.cipta@capcx.com::ce6c694b-f650-4986-94dd-3c7f7bdf1864" providerId="AD" clId="Web-{1007DFE9-DB1F-9DA6-00E6-3550C5C7D82D}" dt="2026-08-10T11:22:41.665" v="6"/>
          <ac:spMkLst>
            <pc:docMk/>
            <pc:sldMk cId="0" sldId="258"/>
            <ac:spMk id="24" creationId="{00000000-0000-0000-0000-000000000000}"/>
          </ac:spMkLst>
        </pc:spChg>
      </pc:sldChg>
      <pc:sldChg chg="delSp">
        <pc:chgData name="Marsha C R Utama Putri - CCO" userId="S::marsha.cipta@capcx.com::ce6c694b-f650-4986-94dd-3c7f7bdf1864" providerId="AD" clId="Web-{1007DFE9-DB1F-9DA6-00E6-3550C5C7D82D}" dt="2026-08-10T11:22:45.884" v="7"/>
        <pc:sldMkLst>
          <pc:docMk/>
          <pc:sldMk cId="0" sldId="259"/>
        </pc:sldMkLst>
        <pc:spChg chg="del">
          <ac:chgData name="Marsha C R Utama Putri - CCO" userId="S::marsha.cipta@capcx.com::ce6c694b-f650-4986-94dd-3c7f7bdf1864" providerId="AD" clId="Web-{1007DFE9-DB1F-9DA6-00E6-3550C5C7D82D}" dt="2026-08-10T11:22:45.884" v="7"/>
          <ac:spMkLst>
            <pc:docMk/>
            <pc:sldMk cId="0" sldId="259"/>
            <ac:spMk id="28" creationId="{00000000-0000-0000-0000-000000000000}"/>
          </ac:spMkLst>
        </pc:spChg>
      </pc:sldChg>
      <pc:sldChg chg="delSp">
        <pc:chgData name="Marsha C R Utama Putri - CCO" userId="S::marsha.cipta@capcx.com::ce6c694b-f650-4986-94dd-3c7f7bdf1864" providerId="AD" clId="Web-{1007DFE9-DB1F-9DA6-00E6-3550C5C7D82D}" dt="2026-08-10T11:22:49.259" v="8"/>
        <pc:sldMkLst>
          <pc:docMk/>
          <pc:sldMk cId="0" sldId="260"/>
        </pc:sldMkLst>
        <pc:spChg chg="del">
          <ac:chgData name="Marsha C R Utama Putri - CCO" userId="S::marsha.cipta@capcx.com::ce6c694b-f650-4986-94dd-3c7f7bdf1864" providerId="AD" clId="Web-{1007DFE9-DB1F-9DA6-00E6-3550C5C7D82D}" dt="2026-08-10T11:22:49.259" v="8"/>
          <ac:spMkLst>
            <pc:docMk/>
            <pc:sldMk cId="0" sldId="260"/>
            <ac:spMk id="19" creationId="{00000000-0000-0000-0000-000000000000}"/>
          </ac:spMkLst>
        </pc:spChg>
      </pc:sldChg>
      <pc:sldChg chg="delSp">
        <pc:chgData name="Marsha C R Utama Putri - CCO" userId="S::marsha.cipta@capcx.com::ce6c694b-f650-4986-94dd-3c7f7bdf1864" providerId="AD" clId="Web-{1007DFE9-DB1F-9DA6-00E6-3550C5C7D82D}" dt="2026-08-10T11:22:53.853" v="9"/>
        <pc:sldMkLst>
          <pc:docMk/>
          <pc:sldMk cId="0" sldId="261"/>
        </pc:sldMkLst>
        <pc:spChg chg="del">
          <ac:chgData name="Marsha C R Utama Putri - CCO" userId="S::marsha.cipta@capcx.com::ce6c694b-f650-4986-94dd-3c7f7bdf1864" providerId="AD" clId="Web-{1007DFE9-DB1F-9DA6-00E6-3550C5C7D82D}" dt="2026-08-10T11:22:53.853" v="9"/>
          <ac:spMkLst>
            <pc:docMk/>
            <pc:sldMk cId="0" sldId="261"/>
            <ac:spMk id="58" creationId="{00000000-0000-0000-0000-000000000000}"/>
          </ac:spMkLst>
        </pc:spChg>
      </pc:sldChg>
      <pc:sldChg chg="delSp">
        <pc:chgData name="Marsha C R Utama Putri - CCO" userId="S::marsha.cipta@capcx.com::ce6c694b-f650-4986-94dd-3c7f7bdf1864" providerId="AD" clId="Web-{1007DFE9-DB1F-9DA6-00E6-3550C5C7D82D}" dt="2026-08-10T11:22:57.493" v="10"/>
        <pc:sldMkLst>
          <pc:docMk/>
          <pc:sldMk cId="0" sldId="262"/>
        </pc:sldMkLst>
        <pc:spChg chg="del">
          <ac:chgData name="Marsha C R Utama Putri - CCO" userId="S::marsha.cipta@capcx.com::ce6c694b-f650-4986-94dd-3c7f7bdf1864" providerId="AD" clId="Web-{1007DFE9-DB1F-9DA6-00E6-3550C5C7D82D}" dt="2026-08-10T11:22:57.493" v="10"/>
          <ac:spMkLst>
            <pc:docMk/>
            <pc:sldMk cId="0" sldId="262"/>
            <ac:spMk id="52" creationId="{00000000-0000-0000-0000-000000000000}"/>
          </ac:spMkLst>
        </pc:spChg>
      </pc:sldChg>
      <pc:sldChg chg="delSp modSp">
        <pc:chgData name="Marsha C R Utama Putri - CCO" userId="S::marsha.cipta@capcx.com::ce6c694b-f650-4986-94dd-3c7f7bdf1864" providerId="AD" clId="Web-{1007DFE9-DB1F-9DA6-00E6-3550C5C7D82D}" dt="2026-08-10T11:23:03.181" v="13"/>
        <pc:sldMkLst>
          <pc:docMk/>
          <pc:sldMk cId="0" sldId="263"/>
        </pc:sldMkLst>
        <pc:spChg chg="del mod">
          <ac:chgData name="Marsha C R Utama Putri - CCO" userId="S::marsha.cipta@capcx.com::ce6c694b-f650-4986-94dd-3c7f7bdf1864" providerId="AD" clId="Web-{1007DFE9-DB1F-9DA6-00E6-3550C5C7D82D}" dt="2026-08-10T11:23:03.181" v="13"/>
          <ac:spMkLst>
            <pc:docMk/>
            <pc:sldMk cId="0" sldId="263"/>
            <ac:spMk id="30" creationId="{00000000-0000-0000-0000-000000000000}"/>
          </ac:spMkLst>
        </pc:spChg>
      </pc:sldChg>
      <pc:sldChg chg="delSp modSp">
        <pc:chgData name="Marsha C R Utama Putri - CCO" userId="S::marsha.cipta@capcx.com::ce6c694b-f650-4986-94dd-3c7f7bdf1864" providerId="AD" clId="Web-{1007DFE9-DB1F-9DA6-00E6-3550C5C7D82D}" dt="2026-08-10T11:23:10.259" v="16"/>
        <pc:sldMkLst>
          <pc:docMk/>
          <pc:sldMk cId="0" sldId="264"/>
        </pc:sldMkLst>
        <pc:spChg chg="del mod">
          <ac:chgData name="Marsha C R Utama Putri - CCO" userId="S::marsha.cipta@capcx.com::ce6c694b-f650-4986-94dd-3c7f7bdf1864" providerId="AD" clId="Web-{1007DFE9-DB1F-9DA6-00E6-3550C5C7D82D}" dt="2026-08-10T11:23:10.259" v="16"/>
          <ac:spMkLst>
            <pc:docMk/>
            <pc:sldMk cId="0" sldId="264"/>
            <ac:spMk id="70" creationId="{00000000-0000-0000-0000-000000000000}"/>
          </ac:spMkLst>
        </pc:spChg>
      </pc:sldChg>
      <pc:sldChg chg="delSp">
        <pc:chgData name="Marsha C R Utama Putri - CCO" userId="S::marsha.cipta@capcx.com::ce6c694b-f650-4986-94dd-3c7f7bdf1864" providerId="AD" clId="Web-{1007DFE9-DB1F-9DA6-00E6-3550C5C7D82D}" dt="2026-08-10T11:23:14.447" v="17"/>
        <pc:sldMkLst>
          <pc:docMk/>
          <pc:sldMk cId="0" sldId="265"/>
        </pc:sldMkLst>
        <pc:spChg chg="del">
          <ac:chgData name="Marsha C R Utama Putri - CCO" userId="S::marsha.cipta@capcx.com::ce6c694b-f650-4986-94dd-3c7f7bdf1864" providerId="AD" clId="Web-{1007DFE9-DB1F-9DA6-00E6-3550C5C7D82D}" dt="2026-08-10T11:23:14.447" v="17"/>
          <ac:spMkLst>
            <pc:docMk/>
            <pc:sldMk cId="0" sldId="265"/>
            <ac:spMk id="94" creationId="{00000000-0000-0000-0000-000000000000}"/>
          </ac:spMkLst>
        </pc:spChg>
      </pc:sldChg>
      <pc:sldChg chg="modSp">
        <pc:chgData name="Marsha C R Utama Putri - CCO" userId="S::marsha.cipta@capcx.com::ce6c694b-f650-4986-94dd-3c7f7bdf1864" providerId="AD" clId="Web-{1007DFE9-DB1F-9DA6-00E6-3550C5C7D82D}" dt="2026-08-10T11:23:20.853" v="20" actId="20577"/>
        <pc:sldMkLst>
          <pc:docMk/>
          <pc:sldMk cId="0" sldId="266"/>
        </pc:sldMkLst>
        <pc:spChg chg="mod">
          <ac:chgData name="Marsha C R Utama Putri - CCO" userId="S::marsha.cipta@capcx.com::ce6c694b-f650-4986-94dd-3c7f7bdf1864" providerId="AD" clId="Web-{1007DFE9-DB1F-9DA6-00E6-3550C5C7D82D}" dt="2026-08-10T11:23:20.853" v="20" actId="20577"/>
          <ac:spMkLst>
            <pc:docMk/>
            <pc:sldMk cId="0" sldId="266"/>
            <ac:spMk id="28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300">
                <a:solidFill>
                  <a:srgbClr val="1B2A4A"/>
                </a:solidFill>
              </a:rPr>
              <a:t>Failure Case — Before vs Target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Failure Cases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C0392B"/>
              </a:solidFill>
            </c:spPr>
            <c:extLst>
              <c:ext xmlns:c16="http://schemas.microsoft.com/office/drawing/2014/chart" uri="{C3380CC4-5D6E-409C-BE32-E72D297353CC}">
                <c16:uniqueId val="{00000001-89E3-4946-8B7D-68B24C2329EE}"/>
              </c:ext>
            </c:extLst>
          </c:dPt>
          <c:dPt>
            <c:idx val="1"/>
            <c:invertIfNegative val="1"/>
            <c:bubble3D val="0"/>
            <c:spPr>
              <a:solidFill>
                <a:srgbClr val="2E7D32"/>
              </a:solidFill>
            </c:spPr>
            <c:extLst>
              <c:ext xmlns:c16="http://schemas.microsoft.com/office/drawing/2014/chart" uri="{C3380CC4-5D6E-409C-BE32-E72D297353CC}">
                <c16:uniqueId val="{00000003-89E3-4946-8B7D-68B24C2329E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Before</c:v>
                </c:pt>
                <c:pt idx="1">
                  <c:v>Target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9E3-4946-8B7D-68B24C2329E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.2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7492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778240" y="0"/>
            <a:ext cx="3413455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778240" y="0"/>
            <a:ext cx="73152" cy="6858000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768096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2B01E"/>
                </a:solidFill>
                <a:latin typeface="Calibri"/>
              </a:rPr>
              <a:t>ABNORMALITY REPORT — RCA &amp; CAPA/PAA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051560"/>
            <a:ext cx="7680960" cy="21031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dirty="0">
                <a:solidFill>
                  <a:srgbClr val="D9E1F2"/>
                </a:solidFill>
                <a:latin typeface="Calibri"/>
              </a:rPr>
              <a:t>  Equipment Related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7680960" cy="20116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Product Blower BL-5702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14800"/>
            <a:ext cx="7680960" cy="8229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1">
                <a:solidFill>
                  <a:srgbClr val="F2B01E"/>
                </a:solidFill>
                <a:latin typeface="Georgia"/>
              </a:rPr>
              <a:t>High Vibration (Coupling Misalignment)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1463040"/>
            <a:ext cx="292608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2B01E"/>
                </a:solidFill>
                <a:latin typeface="Calibri"/>
              </a:rPr>
              <a:t>AR NUMBER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700784"/>
            <a:ext cx="2926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AR-2026-OPP-0203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2249424"/>
            <a:ext cx="292608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2B01E"/>
                </a:solidFill>
                <a:latin typeface="Calibri"/>
              </a:rPr>
              <a:t>TAG / PLANT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487168"/>
            <a:ext cx="2926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BL-5702  |  OPP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3035808"/>
            <a:ext cx="292608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2B01E"/>
                </a:solidFill>
                <a:latin typeface="Calibri"/>
              </a:rPr>
              <a:t>DATE OCCURRENCE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3273552"/>
            <a:ext cx="2926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17 Jun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822192"/>
            <a:ext cx="292608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2B01E"/>
                </a:solidFill>
                <a:latin typeface="Calibri"/>
              </a:rPr>
              <a:t>PRE-RISK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4059936"/>
            <a:ext cx="2926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III  (Score 400)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4608576"/>
            <a:ext cx="292608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2B01E"/>
                </a:solidFill>
                <a:latin typeface="Calibri"/>
              </a:rPr>
              <a:t>PIC (RCA)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4846320"/>
            <a:ext cx="2926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ROT-01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126480"/>
            <a:ext cx="82296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D9E1F2"/>
                </a:solidFill>
                <a:latin typeface="Calibri"/>
              </a:rPr>
              <a:t>Procedure No. RCA-P-0050-03  •  Form RCA-F-0075-02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PROBLEM IDENTIFICATION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AR Details &amp; 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02/11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25880"/>
            <a:ext cx="6400800" cy="40233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6400800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AR IDENTIFICATION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728216"/>
            <a:ext cx="2103120" cy="548640"/>
          </a:xfrm>
          <a:prstGeom prst="rect">
            <a:avLst/>
          </a:prstGeom>
          <a:solidFill>
            <a:srgbClr val="D9E1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651760" y="1728216"/>
            <a:ext cx="42976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1728216"/>
            <a:ext cx="196596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A"/>
                </a:solidFill>
                <a:latin typeface="Calibri"/>
              </a:rPr>
              <a:t>Title /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1728216"/>
            <a:ext cx="411480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Product Blower BL-5702 — High Vibration (Coupling Misalignment)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276856"/>
            <a:ext cx="2103120" cy="384048"/>
          </a:xfrm>
          <a:prstGeom prst="rect">
            <a:avLst/>
          </a:prstGeom>
          <a:solidFill>
            <a:srgbClr val="D9E1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651760" y="2276856"/>
            <a:ext cx="4297680" cy="38404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2276856"/>
            <a:ext cx="196596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A"/>
                </a:solidFill>
                <a:latin typeface="Calibri"/>
              </a:rPr>
              <a:t>AR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2276856"/>
            <a:ext cx="411480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OPEDR (Operation) — Uptime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660904"/>
            <a:ext cx="2103120" cy="384048"/>
          </a:xfrm>
          <a:prstGeom prst="rect">
            <a:avLst/>
          </a:prstGeom>
          <a:solidFill>
            <a:srgbClr val="D9E1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651760" y="2660904"/>
            <a:ext cx="42976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2660904"/>
            <a:ext cx="196596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A"/>
                </a:solidFill>
                <a:latin typeface="Calibri"/>
              </a:rPr>
              <a:t>Plant / Unit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2660904"/>
            <a:ext cx="411480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OPP  (Orion Polypropylene Plant)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044952"/>
            <a:ext cx="2103120" cy="384048"/>
          </a:xfrm>
          <a:prstGeom prst="rect">
            <a:avLst/>
          </a:prstGeom>
          <a:solidFill>
            <a:srgbClr val="D9E1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651760" y="3044952"/>
            <a:ext cx="4297680" cy="38404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3044952"/>
            <a:ext cx="196596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A"/>
                </a:solidFill>
                <a:latin typeface="Calibri"/>
              </a:rPr>
              <a:t>Tag / Eq. Class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3044952"/>
            <a:ext cx="411480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BL-5702  |  Class 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429000"/>
            <a:ext cx="2103120" cy="384048"/>
          </a:xfrm>
          <a:prstGeom prst="rect">
            <a:avLst/>
          </a:prstGeom>
          <a:solidFill>
            <a:srgbClr val="D9E1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651760" y="3429000"/>
            <a:ext cx="42976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3429000"/>
            <a:ext cx="196596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A"/>
                </a:solidFill>
                <a:latin typeface="Calibri"/>
              </a:rPr>
              <a:t>Discipline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3429000"/>
            <a:ext cx="411480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ROT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813048"/>
            <a:ext cx="2103120" cy="384048"/>
          </a:xfrm>
          <a:prstGeom prst="rect">
            <a:avLst/>
          </a:prstGeom>
          <a:solidFill>
            <a:srgbClr val="D9E1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651760" y="3813048"/>
            <a:ext cx="4297680" cy="38404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3813048"/>
            <a:ext cx="196596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A"/>
                </a:solidFill>
                <a:latin typeface="Calibri"/>
              </a:rPr>
              <a:t>Date Occurrence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3813048"/>
            <a:ext cx="411480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17 Jun 2026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197096"/>
            <a:ext cx="2103120" cy="384048"/>
          </a:xfrm>
          <a:prstGeom prst="rect">
            <a:avLst/>
          </a:prstGeom>
          <a:solidFill>
            <a:srgbClr val="D9E1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651760" y="4197096"/>
            <a:ext cx="42976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" y="4197096"/>
            <a:ext cx="196596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A"/>
                </a:solidFill>
                <a:latin typeface="Calibri"/>
              </a:rPr>
              <a:t>Date Reported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4197096"/>
            <a:ext cx="411480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18 Jun 2026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581144"/>
            <a:ext cx="2103120" cy="548640"/>
          </a:xfrm>
          <a:prstGeom prst="rect">
            <a:avLst/>
          </a:prstGeom>
          <a:solidFill>
            <a:srgbClr val="D9E1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651760" y="4581144"/>
            <a:ext cx="4297680" cy="548640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080" y="4581144"/>
            <a:ext cx="196596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A"/>
                </a:solidFill>
                <a:latin typeface="Calibri"/>
              </a:rPr>
              <a:t>Immediate Action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0" y="4581144"/>
            <a:ext cx="411480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Stop BL-5702, re-align coupling, replace worn coupling element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0" y="1371600"/>
            <a:ext cx="2331720" cy="1051560"/>
          </a:xfrm>
          <a:prstGeom prst="rect">
            <a:avLst/>
          </a:prstGeom>
          <a:solidFill>
            <a:srgbClr val="F2F5FA"/>
          </a:solidFill>
          <a:ln w="1270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315200" y="1371600"/>
            <a:ext cx="109728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534656" y="1481328"/>
            <a:ext cx="2020824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7280"/>
                </a:solidFill>
                <a:latin typeface="Calibri"/>
              </a:rPr>
              <a:t>SEVERITY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34656" y="1737360"/>
            <a:ext cx="2020824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B2A4A"/>
                </a:solidFill>
                <a:latin typeface="Georgia"/>
              </a:rPr>
              <a:t>Major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784080" y="1371600"/>
            <a:ext cx="2331720" cy="1051560"/>
          </a:xfrm>
          <a:prstGeom prst="rect">
            <a:avLst/>
          </a:prstGeom>
          <a:solidFill>
            <a:srgbClr val="F2F5FA"/>
          </a:solidFill>
          <a:ln w="1270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784080" y="1371600"/>
            <a:ext cx="109728" cy="1051560"/>
          </a:xfrm>
          <a:prstGeom prst="rect">
            <a:avLst/>
          </a:prstGeom>
          <a:solidFill>
            <a:srgbClr val="E6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003536" y="1481328"/>
            <a:ext cx="2020824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7280"/>
                </a:solidFill>
                <a:latin typeface="Calibri"/>
              </a:rPr>
              <a:t>PRE-RISK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03536" y="1737360"/>
            <a:ext cx="2020824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B2A4A"/>
                </a:solidFill>
                <a:latin typeface="Georgia"/>
              </a:rPr>
              <a:t>III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0" y="2560320"/>
            <a:ext cx="2331720" cy="1051560"/>
          </a:xfrm>
          <a:prstGeom prst="rect">
            <a:avLst/>
          </a:prstGeom>
          <a:solidFill>
            <a:srgbClr val="F2F5FA"/>
          </a:solidFill>
          <a:ln w="1270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7315200" y="2560320"/>
            <a:ext cx="109728" cy="10515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534656" y="2670048"/>
            <a:ext cx="2020824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7280"/>
                </a:solidFill>
                <a:latin typeface="Calibri"/>
              </a:rPr>
              <a:t>DOWNTIME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34656" y="2926080"/>
            <a:ext cx="2020824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B2A4A"/>
                </a:solidFill>
                <a:latin typeface="Georgia"/>
              </a:rPr>
              <a:t>14.0 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784080" y="2560320"/>
            <a:ext cx="2331720" cy="1051560"/>
          </a:xfrm>
          <a:prstGeom prst="rect">
            <a:avLst/>
          </a:prstGeom>
          <a:solidFill>
            <a:srgbClr val="F2F5FA"/>
          </a:solidFill>
          <a:ln w="1270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9784080" y="2560320"/>
            <a:ext cx="109728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0003536" y="2670048"/>
            <a:ext cx="2020824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7280"/>
                </a:solidFill>
                <a:latin typeface="Calibri"/>
              </a:rPr>
              <a:t>LOSS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03536" y="2926080"/>
            <a:ext cx="2020824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B2A4A"/>
                </a:solidFill>
                <a:latin typeface="Georgia"/>
              </a:rPr>
              <a:t>$478.8k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315200" y="3794760"/>
            <a:ext cx="4297680" cy="2331720"/>
          </a:xfrm>
          <a:prstGeom prst="rect">
            <a:avLst/>
          </a:prstGeom>
          <a:solidFill>
            <a:srgbClr val="F2F5FA"/>
          </a:solidFill>
          <a:ln w="1270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7315200" y="3794760"/>
            <a:ext cx="4297680" cy="3840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315200" y="3794760"/>
            <a:ext cx="429768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98079" y="4279392"/>
            <a:ext cx="3931920" cy="17373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222A35"/>
                </a:solidFill>
                <a:latin typeface="Calibri"/>
              </a:rPr>
              <a:t>Product Blower BL-5702 tripped on high vibration on 17-Jun-2026 due to coupling misalignment and a worn coupling element, halting the OPP powder-handling section.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RCA &amp; CAPA/PAA  |  AR-2026-OPP-0203  |  BL-5702 — OPP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GENERAL PROCESS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Chronology of Events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03/11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417320"/>
            <a:ext cx="36576" cy="45720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96696" y="1463040"/>
            <a:ext cx="237744" cy="237744"/>
          </a:xfrm>
          <a:prstGeom prst="ellipse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17320" y="1417320"/>
            <a:ext cx="23774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15-Jun-2026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1417320"/>
            <a:ext cx="7863840" cy="10972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OPP running normal; BL-5702 vibration trending up (4.2 → 8.5 mm/s) with 2X harmonic rising.</a:t>
            </a:r>
          </a:p>
        </p:txBody>
      </p:sp>
      <p:sp>
        <p:nvSpPr>
          <p:cNvPr id="12" name="Oval 11"/>
          <p:cNvSpPr/>
          <p:nvPr/>
        </p:nvSpPr>
        <p:spPr>
          <a:xfrm>
            <a:off x="996696" y="2606040"/>
            <a:ext cx="237744" cy="237744"/>
          </a:xfrm>
          <a:prstGeom prst="ellipse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17320" y="2560320"/>
            <a:ext cx="23774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17-Jun-2026 04:30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2560320"/>
            <a:ext cx="7863840" cy="10972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BL-5702 vibration reached alarm (11 mm/s); blower stopped to prevent damage — powder handling section halted.</a:t>
            </a:r>
          </a:p>
        </p:txBody>
      </p:sp>
      <p:sp>
        <p:nvSpPr>
          <p:cNvPr id="15" name="Oval 14"/>
          <p:cNvSpPr/>
          <p:nvPr/>
        </p:nvSpPr>
        <p:spPr>
          <a:xfrm>
            <a:off x="996696" y="3749040"/>
            <a:ext cx="237744" cy="237744"/>
          </a:xfrm>
          <a:prstGeom prst="ellipse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417320" y="3703320"/>
            <a:ext cx="23774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17-Jun-2026 07:00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3703320"/>
            <a:ext cx="7863840" cy="10972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Coupling element found worn/cracked; laser alignment showed 0.35 mm offset (spec &lt; 0.05 mm).</a:t>
            </a:r>
          </a:p>
        </p:txBody>
      </p:sp>
      <p:sp>
        <p:nvSpPr>
          <p:cNvPr id="18" name="Oval 17"/>
          <p:cNvSpPr/>
          <p:nvPr/>
        </p:nvSpPr>
        <p:spPr>
          <a:xfrm>
            <a:off x="996696" y="4892040"/>
            <a:ext cx="237744" cy="237744"/>
          </a:xfrm>
          <a:prstGeom prst="ellipse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417320" y="4846320"/>
            <a:ext cx="23774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17-Jun-2026 18:30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4846320"/>
            <a:ext cx="7863840" cy="10972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Coupling element replaced, unit re-aligned to &lt; 0.05 mm, blower restarted to 38 T/H.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97280" y="5989320"/>
            <a:ext cx="10058400" cy="457200"/>
          </a:xfrm>
          <a:prstGeom prst="rect">
            <a:avLst/>
          </a:prstGeom>
          <a:solidFill>
            <a:srgbClr val="D9E1F2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80160" y="5989320"/>
            <a:ext cx="969264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Problem: Product Blower BL-5702 tripped on high vibration on 17-Jun-2026 due to coupling misalignment and a worn coupling element, halting the OPP powder-handling section.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RCA &amp; CAPA/PAA  |  AR-2026-OPP-0203  |  BL-5702 — OPP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ASSESS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Past Performance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04/11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5486400" cy="4480560"/>
          </a:xfrm>
          <a:prstGeom prst="rect">
            <a:avLst/>
          </a:prstGeom>
          <a:solidFill>
            <a:srgbClr val="F2F5FA"/>
          </a:solidFill>
          <a:ln w="1270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5486400" cy="40233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371600"/>
            <a:ext cx="5486400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HISTORICAL DATA &amp;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920240"/>
            <a:ext cx="5029200" cy="374903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22A35"/>
                </a:solidFill>
                <a:latin typeface="Calibri"/>
              </a:rPr>
              <a:t>BL-5702 vibration baseline is 3.5–4.5 mm/s. A rising trend with dominant 2X harmonic over 2 days indicated developing misalignment. Alignment was last verified 14 months prior; no soft-foot / alignment check in the routine PM.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371600"/>
            <a:ext cx="530352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60" y="1371600"/>
            <a:ext cx="5303520" cy="402336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60" y="1371600"/>
            <a:ext cx="5303520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IMPACT SUMMARY (4W)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1965960"/>
            <a:ext cx="146304" cy="731520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12280" y="1965960"/>
            <a:ext cx="45720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A4A"/>
                </a:solidFill>
                <a:latin typeface="Calibri"/>
              </a:rPr>
              <a:t>What: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2258568"/>
            <a:ext cx="461772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222A35"/>
                </a:solidFill>
                <a:latin typeface="Calibri"/>
              </a:rPr>
              <a:t>BL-5702 high vibration from coupling misalignment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37960" y="2907792"/>
            <a:ext cx="146304" cy="731520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12280" y="2907792"/>
            <a:ext cx="45720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A4A"/>
                </a:solidFill>
                <a:latin typeface="Calibri"/>
              </a:rPr>
              <a:t>When: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3200400"/>
            <a:ext cx="461772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222A35"/>
                </a:solidFill>
                <a:latin typeface="Calibri"/>
              </a:rPr>
              <a:t>17-Jun-2026 (04:30)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37960" y="3849624"/>
            <a:ext cx="146304" cy="731520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12280" y="3849624"/>
            <a:ext cx="45720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A4A"/>
                </a:solidFill>
                <a:latin typeface="Calibri"/>
              </a:rPr>
              <a:t>Scope: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4142232"/>
            <a:ext cx="461772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222A35"/>
                </a:solidFill>
                <a:latin typeface="Calibri"/>
              </a:rPr>
              <a:t>OPP powder-handling section stop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37960" y="4791456"/>
            <a:ext cx="146304" cy="731520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12280" y="4791456"/>
            <a:ext cx="45720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A4A"/>
                </a:solidFill>
                <a:latin typeface="Calibri"/>
              </a:rPr>
              <a:t>Uptime Loss: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5084064"/>
            <a:ext cx="461772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222A35"/>
                </a:solidFill>
                <a:latin typeface="Calibri"/>
              </a:rPr>
              <a:t>14.0 hours  →  532.0 ton  →  $478.8k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RCA &amp; CAPA/PAA  |  AR-2026-OPP-0203  |  BL-5702 — OPP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TARGET SETTING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Actual vs Target Condition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05/11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5486400" cy="1234440"/>
          </a:xfrm>
          <a:prstGeom prst="rect">
            <a:avLst/>
          </a:prstGeom>
          <a:solidFill>
            <a:srgbClr val="FBE9E7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481328"/>
            <a:ext cx="51206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0392B"/>
                </a:solidFill>
                <a:latin typeface="Calibri"/>
              </a:rPr>
              <a:t>ACTUAL CONDITION (Before Improvement)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10512"/>
            <a:ext cx="512064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222A35"/>
                </a:solidFill>
                <a:latin typeface="Calibri"/>
              </a:rPr>
              <a:t>Blower stop due to high vibration (misalignment)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788920"/>
            <a:ext cx="5486400" cy="1234440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898648"/>
            <a:ext cx="51206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E7D32"/>
                </a:solidFill>
                <a:latin typeface="Calibri"/>
              </a:rPr>
              <a:t>TARGET CONDITION (Project 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27832"/>
            <a:ext cx="512064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222A35"/>
                </a:solidFill>
                <a:latin typeface="Calibri"/>
              </a:rPr>
              <a:t>No blower stop due to misalignment (vibration &lt; 7 mm/s, alignment &lt; 0.05 mm)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297680"/>
            <a:ext cx="5486400" cy="1554480"/>
          </a:xfrm>
          <a:prstGeom prst="rect">
            <a:avLst/>
          </a:prstGeom>
          <a:solidFill>
            <a:srgbClr val="F2F5FA"/>
          </a:solidFill>
          <a:ln w="1270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4407408"/>
            <a:ext cx="51206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TARGET METRIC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54880"/>
            <a:ext cx="5120640" cy="10058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22A35"/>
                </a:solidFill>
                <a:latin typeface="Calibri"/>
              </a:rPr>
              <a:t>Recurrence of this equipment failure mode: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22A35"/>
                </a:solidFill>
                <a:latin typeface="Calibri"/>
              </a:rPr>
              <a:t>     Before = 1 case   →   Target = 0 case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6400800" y="1417320"/>
          <a:ext cx="521208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RCA &amp; CAPA/PAA  |  AR-2026-OPP-0203  |  BL-5702 — OPP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ROOT CAUSE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Parameter Verification (4P)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06/11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663854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66385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12494" y="1371600"/>
            <a:ext cx="3319272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12494" y="1371600"/>
            <a:ext cx="3319272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Problem Phenomenon / Parameter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31766" y="1371600"/>
            <a:ext cx="995781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31766" y="1371600"/>
            <a:ext cx="995781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Result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27547" y="1371600"/>
            <a:ext cx="6085332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527547" y="1371600"/>
            <a:ext cx="6085332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Evidence / Finding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1719072"/>
            <a:ext cx="663854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1719072"/>
            <a:ext cx="572414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P1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12494" y="1719072"/>
            <a:ext cx="331927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58214" y="1719072"/>
            <a:ext cx="322783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Overall vibration above alarm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31766" y="1719072"/>
            <a:ext cx="995781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7486" y="1719072"/>
            <a:ext cx="904341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C0392B"/>
                </a:solidFill>
                <a:latin typeface="Calibri"/>
              </a:rPr>
              <a:t>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27547" y="1719072"/>
            <a:ext cx="608533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573267" y="1719072"/>
            <a:ext cx="599389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Vibration reached 11 mm/s vs 7 mm/s alarm — misalignment signature.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432304"/>
            <a:ext cx="663854" cy="713232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2432304"/>
            <a:ext cx="572414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P2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12494" y="2432304"/>
            <a:ext cx="3319272" cy="713232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258214" y="2432304"/>
            <a:ext cx="322783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Coupling alignment out of tolerance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31766" y="2432304"/>
            <a:ext cx="995781" cy="713232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7486" y="2432304"/>
            <a:ext cx="904341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C0392B"/>
                </a:solidFill>
                <a:latin typeface="Calibri"/>
              </a:rPr>
              <a:t>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27547" y="2432304"/>
            <a:ext cx="6085332" cy="713232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573267" y="2432304"/>
            <a:ext cx="599389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Offset 0.35 mm vs &lt; 0.05 mm spec — angular/parallel misalignment.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145536"/>
            <a:ext cx="663854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4360" y="3145536"/>
            <a:ext cx="572414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P3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12494" y="3145536"/>
            <a:ext cx="331927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258214" y="3145536"/>
            <a:ext cx="322783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Bearing condition degraded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31766" y="3145536"/>
            <a:ext cx="995781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7486" y="3145536"/>
            <a:ext cx="904341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E7D32"/>
                </a:solidFill>
                <a:latin typeface="Calibri"/>
              </a:rPr>
              <a:t>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27547" y="3145536"/>
            <a:ext cx="608533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573267" y="3145536"/>
            <a:ext cx="599389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Bearing envelope/shock-pulse normal — no bearing defect.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3858768"/>
            <a:ext cx="663854" cy="713232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94360" y="3858768"/>
            <a:ext cx="572414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P4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212494" y="3858768"/>
            <a:ext cx="3319272" cy="713232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258214" y="3858768"/>
            <a:ext cx="322783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Foundation / soft-foot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31766" y="3858768"/>
            <a:ext cx="995781" cy="713232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577486" y="3858768"/>
            <a:ext cx="904341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C0392B"/>
                </a:solidFill>
                <a:latin typeface="Calibri"/>
              </a:rPr>
              <a:t>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527547" y="3858768"/>
            <a:ext cx="6085332" cy="713232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573267" y="3858768"/>
            <a:ext cx="599389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Soft-foot 0.12 mm found on one foot — contributed to misalignment.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4572000"/>
            <a:ext cx="663854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94360" y="4572000"/>
            <a:ext cx="572414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P5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212494" y="4572000"/>
            <a:ext cx="331927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258214" y="4572000"/>
            <a:ext cx="322783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Rotor unbalance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31766" y="4572000"/>
            <a:ext cx="995781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577486" y="4572000"/>
            <a:ext cx="904341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E7D32"/>
                </a:solidFill>
                <a:latin typeface="Calibri"/>
              </a:rPr>
              <a:t>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27547" y="4572000"/>
            <a:ext cx="608533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573267" y="4572000"/>
            <a:ext cx="599389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1X component within balance grade — no unbalance.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172200"/>
            <a:ext cx="109728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6B7280"/>
                </a:solidFill>
                <a:latin typeface="Calibri"/>
              </a:rPr>
              <a:t>NG = current condition not meeting standard (problem)   •   G = meets standard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RCA &amp; CAPA/PAA  |  AR-2026-OPP-0203  |  BL-5702 — OPP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ROOT CAUSE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4M + 1E 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07/11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663854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66385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12494" y="1371600"/>
            <a:ext cx="3761841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12494" y="1371600"/>
            <a:ext cx="3761841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Man / Machine / Method / Material / Environment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74335" y="1371600"/>
            <a:ext cx="995781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74335" y="1371600"/>
            <a:ext cx="995781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Result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70116" y="1371600"/>
            <a:ext cx="5642762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70116" y="1371600"/>
            <a:ext cx="5642762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Evidence / Finding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1719072"/>
            <a:ext cx="663854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1719072"/>
            <a:ext cx="572414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X1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12494" y="1719072"/>
            <a:ext cx="3761841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58214" y="1719072"/>
            <a:ext cx="3670401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Alignment check not in routine PM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74335" y="1719072"/>
            <a:ext cx="995781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0055" y="1719072"/>
            <a:ext cx="904341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C0392B"/>
                </a:solidFill>
                <a:latin typeface="Calibri"/>
              </a:rPr>
              <a:t>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70116" y="1719072"/>
            <a:ext cx="564276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15836" y="1719072"/>
            <a:ext cx="5551322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PM did not include periodic laser alignment / soft-foot check.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468880"/>
            <a:ext cx="663854" cy="74980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2468880"/>
            <a:ext cx="572414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X2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12494" y="2468880"/>
            <a:ext cx="3761841" cy="74980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258214" y="2468880"/>
            <a:ext cx="3670401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Coupling element life not tracked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74335" y="2468880"/>
            <a:ext cx="995781" cy="74980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0055" y="2468880"/>
            <a:ext cx="904341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C0392B"/>
                </a:solidFill>
                <a:latin typeface="Calibri"/>
              </a:rPr>
              <a:t>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70116" y="2468880"/>
            <a:ext cx="5642762" cy="74980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015836" y="2468880"/>
            <a:ext cx="5551322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Elastomer coupling element run beyond recommended 12-month life.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218688"/>
            <a:ext cx="663854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4360" y="3218688"/>
            <a:ext cx="572414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X3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12494" y="3218688"/>
            <a:ext cx="3761841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258214" y="3218688"/>
            <a:ext cx="3670401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Vibration route interval too long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74335" y="3218688"/>
            <a:ext cx="995781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020055" y="3218688"/>
            <a:ext cx="904341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C0392B"/>
                </a:solidFill>
                <a:latin typeface="Calibri"/>
              </a:rPr>
              <a:t>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70116" y="3218688"/>
            <a:ext cx="564276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015836" y="3218688"/>
            <a:ext cx="5551322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Monthly route missed the fast-rising 2-day trend.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3968496"/>
            <a:ext cx="663854" cy="74980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94360" y="3968496"/>
            <a:ext cx="572414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X4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212494" y="3968496"/>
            <a:ext cx="3761841" cy="74980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258214" y="3968496"/>
            <a:ext cx="3670401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Alignment tools / competency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74335" y="3968496"/>
            <a:ext cx="995781" cy="74980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020055" y="3968496"/>
            <a:ext cx="904341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E7D32"/>
                </a:solidFill>
                <a:latin typeface="Calibri"/>
              </a:rPr>
              <a:t>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70116" y="3968496"/>
            <a:ext cx="5642762" cy="74980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015836" y="3968496"/>
            <a:ext cx="5551322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Laser alignment tool &amp; trained technicians available.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5806440"/>
            <a:ext cx="11064240" cy="56692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48640" y="5806440"/>
            <a:ext cx="146304" cy="566928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68680" y="5806440"/>
            <a:ext cx="1060704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ROOT CAUSE:  High vibration from coupling misalignment aggravated by soft-foot and an over-aged elastomer coupling element, undetected because periodic alignment/soft-foot checks were absent from the PM and the vibration route interval was too long.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RCA &amp; CAPA/PAA  |  AR-2026-OPP-0203  |  BL-5702 — OPP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RCA — MATRIX PRIORITY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Impact vs Control Prioritization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08/11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1554480"/>
            <a:ext cx="2468880" cy="1143000"/>
          </a:xfrm>
          <a:prstGeom prst="rect">
            <a:avLst/>
          </a:prstGeom>
          <a:solidFill>
            <a:srgbClr val="FFF3C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80560" y="1554480"/>
            <a:ext cx="2468880" cy="1143000"/>
          </a:xfrm>
          <a:prstGeom prst="rect">
            <a:avLst/>
          </a:prstGeom>
          <a:solidFill>
            <a:srgbClr val="FFE09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949440" y="1554480"/>
            <a:ext cx="2468880" cy="1143000"/>
          </a:xfrm>
          <a:prstGeom prst="rect">
            <a:avLst/>
          </a:prstGeom>
          <a:solidFill>
            <a:srgbClr val="F8C47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011680" y="2697480"/>
            <a:ext cx="2468880" cy="1143000"/>
          </a:xfrm>
          <a:prstGeom prst="rect">
            <a:avLst/>
          </a:prstGeom>
          <a:solidFill>
            <a:srgbClr val="E8F2D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80560" y="2697480"/>
            <a:ext cx="2468880" cy="1143000"/>
          </a:xfrm>
          <a:prstGeom prst="rect">
            <a:avLst/>
          </a:prstGeom>
          <a:solidFill>
            <a:srgbClr val="FFE09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949440" y="2697480"/>
            <a:ext cx="2468880" cy="1143000"/>
          </a:xfrm>
          <a:prstGeom prst="rect">
            <a:avLst/>
          </a:prstGeom>
          <a:solidFill>
            <a:srgbClr val="F6A85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011680" y="3840480"/>
            <a:ext cx="2468880" cy="1143000"/>
          </a:xfrm>
          <a:prstGeom prst="rect">
            <a:avLst/>
          </a:prstGeom>
          <a:solidFill>
            <a:srgbClr val="CFE8C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80560" y="3840480"/>
            <a:ext cx="2468880" cy="1143000"/>
          </a:xfrm>
          <a:prstGeom prst="rect">
            <a:avLst/>
          </a:prstGeom>
          <a:solidFill>
            <a:srgbClr val="E8F2D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949440" y="3840480"/>
            <a:ext cx="2468880" cy="1143000"/>
          </a:xfrm>
          <a:prstGeom prst="rect">
            <a:avLst/>
          </a:prstGeom>
          <a:solidFill>
            <a:srgbClr val="FFE09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49440" y="2697480"/>
            <a:ext cx="2468880" cy="11430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B2A4A"/>
                </a:solidFill>
                <a:latin typeface="Calibri"/>
              </a:rPr>
              <a:t>X1  X2  X3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840480"/>
            <a:ext cx="2468880" cy="11430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B2A4A"/>
                </a:solidFill>
                <a:latin typeface="Calibri"/>
              </a:rPr>
              <a:t>P1  P2  P4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5020056"/>
            <a:ext cx="24688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5020056"/>
            <a:ext cx="24688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Medium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5020056"/>
            <a:ext cx="24688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5367528"/>
            <a:ext cx="74066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B2A4A"/>
                </a:solidFill>
                <a:latin typeface="Calibri"/>
              </a:rPr>
              <a:t>IMPACT  →</a:t>
            </a:r>
          </a:p>
        </p:txBody>
      </p:sp>
      <p:sp>
        <p:nvSpPr>
          <p:cNvPr id="23" name="TextBox 22"/>
          <p:cNvSpPr txBox="1"/>
          <p:nvPr/>
        </p:nvSpPr>
        <p:spPr>
          <a:xfrm rot="16200000">
            <a:off x="640080" y="1554480"/>
            <a:ext cx="1280160" cy="34290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B2A4A"/>
                </a:solidFill>
                <a:latin typeface="Calibri"/>
              </a:rPr>
              <a:t>CONTROL  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1554480"/>
            <a:ext cx="548640" cy="11430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2697480"/>
            <a:ext cx="548640" cy="11430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Medium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3840480"/>
            <a:ext cx="548640" cy="11430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High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11680" y="5806440"/>
            <a:ext cx="8595360" cy="548640"/>
          </a:xfrm>
          <a:prstGeom prst="rect">
            <a:avLst/>
          </a:prstGeom>
          <a:solidFill>
            <a:srgbClr val="D9E1F2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194560" y="5806440"/>
            <a:ext cx="822960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Prioritized root causes (high impact) are addressed first via Corrective &amp; Pro-Active Actions 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RCA &amp; CAPA/PAA  |  AR-2026-OPP-0203  |  BL-5702 — OPP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IMPROVE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Corrective &amp; Pro-Active Action (CAPAA)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09/11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663854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66385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RC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12494" y="1371600"/>
            <a:ext cx="6085332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12494" y="1371600"/>
            <a:ext cx="6085332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Corrective Action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97826" y="1371600"/>
            <a:ext cx="1438351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97826" y="1371600"/>
            <a:ext cx="1438351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Plan Date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36177" y="1371600"/>
            <a:ext cx="1106424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36177" y="1371600"/>
            <a:ext cx="110642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PIC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42601" y="1371600"/>
            <a:ext cx="1770278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42601" y="1371600"/>
            <a:ext cx="1770278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1719072"/>
            <a:ext cx="663854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1719072"/>
            <a:ext cx="572414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X1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12494" y="1719072"/>
            <a:ext cx="608533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58214" y="1719072"/>
            <a:ext cx="5993892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Add periodic laser alignment &amp; soft-foot check to BL-5702 PM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97826" y="1719072"/>
            <a:ext cx="1438351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43546" y="1719072"/>
            <a:ext cx="1346911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18-Jul-2026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36177" y="1719072"/>
            <a:ext cx="1106424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781897" y="1719072"/>
            <a:ext cx="1014984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ROT-01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42601" y="1719072"/>
            <a:ext cx="1770278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888321" y="1719072"/>
            <a:ext cx="1678838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E68A00"/>
                </a:solidFill>
                <a:latin typeface="Calibri"/>
              </a:rPr>
              <a:t>In Progress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2542032"/>
            <a:ext cx="663854" cy="822960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4360" y="2542032"/>
            <a:ext cx="572414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X2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12494" y="2542032"/>
            <a:ext cx="6085332" cy="822960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258214" y="2542032"/>
            <a:ext cx="5993892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Track coupling element life &amp; replace at 12 months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97826" y="2542032"/>
            <a:ext cx="1438351" cy="822960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43546" y="2542032"/>
            <a:ext cx="1346911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18-Jul-2026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36177" y="2542032"/>
            <a:ext cx="1106424" cy="822960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781897" y="2542032"/>
            <a:ext cx="1014984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REL-05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842601" y="2542032"/>
            <a:ext cx="1770278" cy="822960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888321" y="2542032"/>
            <a:ext cx="1678838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C0392B"/>
                </a:solidFill>
                <a:latin typeface="Calibri"/>
              </a:rPr>
              <a:t>Open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547872"/>
            <a:ext cx="109728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PRO-ACTIVE ACTION (roll-out to similar equipment)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3895344"/>
            <a:ext cx="663854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48640" y="3895344"/>
            <a:ext cx="66385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RC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12494" y="3895344"/>
            <a:ext cx="6085332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212494" y="3895344"/>
            <a:ext cx="6085332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Pro-Active Action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97826" y="3895344"/>
            <a:ext cx="1438351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297826" y="3895344"/>
            <a:ext cx="1438351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Plan Date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36177" y="3895344"/>
            <a:ext cx="1106424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736177" y="3895344"/>
            <a:ext cx="110642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PIC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842601" y="3895344"/>
            <a:ext cx="1770278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842601" y="3895344"/>
            <a:ext cx="1770278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4242816"/>
            <a:ext cx="663854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94360" y="4242816"/>
            <a:ext cx="572414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X1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12494" y="4242816"/>
            <a:ext cx="6085332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258214" y="4242816"/>
            <a:ext cx="5993892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Roll out alignment check to all Class-A blowers in OPP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297826" y="4242816"/>
            <a:ext cx="1438351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343546" y="4242816"/>
            <a:ext cx="1346911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18-Aug-2026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736177" y="4242816"/>
            <a:ext cx="1106424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781897" y="4242816"/>
            <a:ext cx="1014984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ROT-01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842601" y="4242816"/>
            <a:ext cx="177027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888321" y="4242816"/>
            <a:ext cx="1678838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C0392B"/>
                </a:solidFill>
                <a:latin typeface="Calibri"/>
              </a:rPr>
              <a:t>Open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8640" y="4901184"/>
            <a:ext cx="663854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94360" y="4901184"/>
            <a:ext cx="572414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X2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212494" y="4901184"/>
            <a:ext cx="6085332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258214" y="4901184"/>
            <a:ext cx="5993892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Create coupling-element replacement register for OPP trains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297826" y="4901184"/>
            <a:ext cx="1438351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343546" y="4901184"/>
            <a:ext cx="1346911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31-Aug-2026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736177" y="4901184"/>
            <a:ext cx="1106424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781897" y="4901184"/>
            <a:ext cx="1014984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REL-05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842601" y="4901184"/>
            <a:ext cx="1770278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888321" y="4901184"/>
            <a:ext cx="1678838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C0392B"/>
                </a:solidFill>
                <a:latin typeface="Calibri"/>
              </a:rPr>
              <a:t>Open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RCA &amp; CAPA/PAA  |  AR-2026-OPP-0203  |  BL-5702 — OPP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IMPROVE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Preventive &amp; Risk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10/11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9728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PREVENTIVE / PRO-ACTIVE ACTION (Good Condition Parameters)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72768"/>
            <a:ext cx="774496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572768"/>
            <a:ext cx="774496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Item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23136" y="1572768"/>
            <a:ext cx="2655417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23136" y="1572768"/>
            <a:ext cx="2655417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Possible Root Cause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78553" y="1572768"/>
            <a:ext cx="4868265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78553" y="1572768"/>
            <a:ext cx="4868265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Preventive Action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46818" y="1572768"/>
            <a:ext cx="1438351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46818" y="1572768"/>
            <a:ext cx="1438351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Plan Date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85169" y="1572768"/>
            <a:ext cx="1327708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285169" y="1572768"/>
            <a:ext cx="1327708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PIC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1920240"/>
            <a:ext cx="774496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1920240"/>
            <a:ext cx="683056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X3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23136" y="1920240"/>
            <a:ext cx="2655417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368856" y="1920240"/>
            <a:ext cx="2563977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Route interval too long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78553" y="1920240"/>
            <a:ext cx="4868265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024273" y="1920240"/>
            <a:ext cx="4776825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Shorten BL-5702 vibration route to weekly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46818" y="1920240"/>
            <a:ext cx="1438351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892538" y="1920240"/>
            <a:ext cx="1346911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18-Jul-2026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85169" y="1920240"/>
            <a:ext cx="132770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330889" y="1920240"/>
            <a:ext cx="1236268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REL-05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2578608"/>
            <a:ext cx="774496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94360" y="2578608"/>
            <a:ext cx="683056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P4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323136" y="2578608"/>
            <a:ext cx="2655417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368856" y="2578608"/>
            <a:ext cx="2563977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Soft-foot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78553" y="2578608"/>
            <a:ext cx="4868265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024273" y="2578608"/>
            <a:ext cx="4776825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Correct soft-foot &amp; re-shim baseplate BL-5702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46818" y="2578608"/>
            <a:ext cx="1438351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892538" y="2578608"/>
            <a:ext cx="1346911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18-Jun-2026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285169" y="2578608"/>
            <a:ext cx="1327708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330889" y="2578608"/>
            <a:ext cx="1236268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ROT-01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3465576"/>
            <a:ext cx="109728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RISK ANALYSIS OF CORRECTIVE ACTION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3813048"/>
            <a:ext cx="3097987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48640" y="3813048"/>
            <a:ext cx="3097987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Corrective Action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46627" y="3813048"/>
            <a:ext cx="2655417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646627" y="3813048"/>
            <a:ext cx="2655417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Potential Risk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2044" y="3813048"/>
            <a:ext cx="3097987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302044" y="3813048"/>
            <a:ext cx="3097987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Countermeasure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400031" y="3813048"/>
            <a:ext cx="1106424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400031" y="3813048"/>
            <a:ext cx="110642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Plan Date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506455" y="3813048"/>
            <a:ext cx="1106424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506455" y="3813048"/>
            <a:ext cx="110642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PIC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4160520"/>
            <a:ext cx="3097987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94360" y="4160520"/>
            <a:ext cx="3006547" cy="7315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Shorten vibration route to weekly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46627" y="4160520"/>
            <a:ext cx="2655417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692347" y="4160520"/>
            <a:ext cx="2563977" cy="7315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Increased inspection workload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02044" y="4160520"/>
            <a:ext cx="3097987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347764" y="4160520"/>
            <a:ext cx="3006547" cy="7315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Use wireless vibration sensor for continuous trend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400031" y="4160520"/>
            <a:ext cx="1106424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445751" y="4160520"/>
            <a:ext cx="1014984" cy="7315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18-Jul-2026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506455" y="4160520"/>
            <a:ext cx="1106424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0552175" y="4160520"/>
            <a:ext cx="1014984" cy="7315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REL-05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5074920"/>
            <a:ext cx="109728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PM SCHEDULE ESTABLISHED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" y="5404104"/>
            <a:ext cx="1106424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48640" y="5404104"/>
            <a:ext cx="110642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PM No.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655064" y="5404104"/>
            <a:ext cx="6859828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655064" y="5404104"/>
            <a:ext cx="6859828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514892" y="5404104"/>
            <a:ext cx="1770278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514892" y="5404104"/>
            <a:ext cx="1770278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Group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285170" y="5404104"/>
            <a:ext cx="1327708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0285170" y="5404104"/>
            <a:ext cx="1327708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Interval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8640" y="5751576"/>
            <a:ext cx="1106424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94360" y="5751576"/>
            <a:ext cx="1014984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PM-1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55064" y="5751576"/>
            <a:ext cx="6859828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700784" y="5751576"/>
            <a:ext cx="6768388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6-monthly laser alignment &amp; soft-foot check BL-5702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514892" y="5751576"/>
            <a:ext cx="1770278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560612" y="5751576"/>
            <a:ext cx="1678838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Rotating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285170" y="5751576"/>
            <a:ext cx="1327708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0330890" y="5751576"/>
            <a:ext cx="1236268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6-monthly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48640" y="6062472"/>
            <a:ext cx="1106424" cy="310896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94360" y="6062472"/>
            <a:ext cx="1014984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PM-2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655064" y="6062472"/>
            <a:ext cx="6859828" cy="310896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1700784" y="6062472"/>
            <a:ext cx="6768388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Coupling element inspection/replacement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514892" y="6062472"/>
            <a:ext cx="1770278" cy="310896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8560612" y="6062472"/>
            <a:ext cx="1678838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Rotating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285170" y="6062472"/>
            <a:ext cx="1327708" cy="310896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10330890" y="6062472"/>
            <a:ext cx="1236268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12-monthly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48640" y="6373368"/>
            <a:ext cx="1106424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594360" y="6373368"/>
            <a:ext cx="1014984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PM-3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655064" y="6373368"/>
            <a:ext cx="6859828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1700784" y="6373368"/>
            <a:ext cx="6768388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Weekly vibration trend review BL-5702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514892" y="6373368"/>
            <a:ext cx="1770278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8560612" y="6373368"/>
            <a:ext cx="1678838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Reliability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285170" y="6373368"/>
            <a:ext cx="1327708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10330890" y="6373368"/>
            <a:ext cx="1236268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Weekly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Georgia"/>
              </a:rPr>
              <a:t>Downtime &amp; Closure 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2697480" cy="13716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2697480" cy="91440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572768"/>
            <a:ext cx="23774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DOWNTIME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74519"/>
            <a:ext cx="237744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Georgia"/>
              </a:rPr>
              <a:t>14.0 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371600"/>
            <a:ext cx="2697480" cy="13716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83280" y="1371600"/>
            <a:ext cx="2697480" cy="914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66160" y="1572768"/>
            <a:ext cx="23774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PRODUCTION LOSS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1874519"/>
            <a:ext cx="237744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Georgia"/>
              </a:rPr>
              <a:t>532.0 ton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371600"/>
            <a:ext cx="2697480" cy="13716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371600"/>
            <a:ext cx="2697480" cy="91440"/>
          </a:xfrm>
          <a:prstGeom prst="rect">
            <a:avLst/>
          </a:prstGeom>
          <a:solidFill>
            <a:srgbClr val="FF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1572768"/>
            <a:ext cx="23774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ESTIMATED LOSS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874519"/>
            <a:ext cx="237744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Georgia"/>
              </a:rPr>
              <a:t>$478.8k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60" y="1371600"/>
            <a:ext cx="2697480" cy="13716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052560" y="1371600"/>
            <a:ext cx="2697480" cy="9144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35440" y="1572768"/>
            <a:ext cx="23774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PRE-RISK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1874519"/>
            <a:ext cx="237744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Georgia"/>
              </a:rPr>
              <a:t>III (400)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017520"/>
            <a:ext cx="5394960" cy="31089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3154680"/>
            <a:ext cx="50292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2B01E"/>
                </a:solidFill>
                <a:latin typeface="Calibri"/>
              </a:rPr>
              <a:t>ROOT CAUSE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520440"/>
            <a:ext cx="5029200" cy="24688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High vibration from coupling misalignment aggravated by soft-foot and an over-aged elastomer coupling element, undetected because periodic alignment/soft-foot checks were absent from the PM and the vibration route interval was too long.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017520"/>
            <a:ext cx="5394960" cy="31089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0" y="3154680"/>
            <a:ext cx="50292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2B01E"/>
                </a:solidFill>
                <a:latin typeface="Calibri"/>
              </a:rPr>
              <a:t>KEY CORRECTIVE / PRO-ACTIVE ACTIONS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611880"/>
            <a:ext cx="50292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F2B01E"/>
                </a:solidFill>
                <a:latin typeface="Calibri"/>
              </a:rPr>
              <a:t>•  </a:t>
            </a:r>
            <a:r>
              <a:rPr sz="1300">
                <a:solidFill>
                  <a:srgbClr val="FFFFFF"/>
                </a:solidFill>
                <a:latin typeface="Calibri"/>
              </a:rPr>
              <a:t>Add periodic laser alignment &amp; soft-foot check to BL-5702 PM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F2B01E"/>
                </a:solidFill>
                <a:latin typeface="Calibri"/>
              </a:rPr>
              <a:t>•  </a:t>
            </a:r>
            <a:r>
              <a:rPr sz="1300">
                <a:solidFill>
                  <a:srgbClr val="FFFFFF"/>
                </a:solidFill>
                <a:latin typeface="Calibri"/>
              </a:rPr>
              <a:t>Track coupling element life &amp; replace at 12 months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F2B01E"/>
                </a:solidFill>
                <a:latin typeface="Calibri"/>
              </a:rPr>
              <a:t>•  </a:t>
            </a:r>
            <a:r>
              <a:rPr sz="1300">
                <a:solidFill>
                  <a:srgbClr val="FFFFFF"/>
                </a:solidFill>
                <a:latin typeface="Calibri"/>
              </a:rPr>
              <a:t>Shorten BL-5702 vibration route to weekly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355080"/>
            <a:ext cx="10972800" cy="17953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D9E1F2"/>
                </a:solidFill>
                <a:latin typeface="Calibri"/>
              </a:rPr>
              <a:t>AR-2026-OPP-0203   •   BL-5702 — OPP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a71efe2-5848-4835-ba9f-8faf6945352d" xsi:nil="true"/>
    <lcf76f155ced4ddcb4097134ff3c332f xmlns="831850e5-ca91-43e1-afa5-cf72b3205c9b">
      <Terms xmlns="http://schemas.microsoft.com/office/infopath/2007/PartnerControls"/>
    </lcf76f155ced4ddcb4097134ff3c332f>
    <Status xmlns="831850e5-ca91-43e1-afa5-cf72b3205c9b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52C4518E1ED9C4C808F6F104771DAF4" ma:contentTypeVersion="18" ma:contentTypeDescription="Create a new document." ma:contentTypeScope="" ma:versionID="58198918a17d838bcb25a0e6a8e7af6d">
  <xsd:schema xmlns:xsd="http://www.w3.org/2001/XMLSchema" xmlns:xs="http://www.w3.org/2001/XMLSchema" xmlns:p="http://schemas.microsoft.com/office/2006/metadata/properties" xmlns:ns2="831850e5-ca91-43e1-afa5-cf72b3205c9b" xmlns:ns3="0a71efe2-5848-4835-ba9f-8faf6945352d" targetNamespace="http://schemas.microsoft.com/office/2006/metadata/properties" ma:root="true" ma:fieldsID="dbb7d9c8a963165d3a7bcebf80db274b" ns2:_="" ns3:_="">
    <xsd:import namespace="831850e5-ca91-43e1-afa5-cf72b3205c9b"/>
    <xsd:import namespace="0a71efe2-5848-4835-ba9f-8faf6945352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MediaServiceSearchProperties" minOccurs="0"/>
                <xsd:element ref="ns2:Statu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1850e5-ca91-43e1-afa5-cf72b3205c9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d4cbfe34-5b9c-4d8b-9c6a-ff67f326dec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Status" ma:index="23" nillable="true" ma:displayName="Status" ma:description="Status activity" ma:format="Dropdown" ma:internalName="Status">
      <xsd:simpleType>
        <xsd:restriction base="dms:Choice">
          <xsd:enumeration value="To do"/>
          <xsd:enumeration value="In Progress"/>
          <xsd:enumeration value="Complete"/>
        </xsd:restriction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71efe2-5848-4835-ba9f-8faf6945352d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5ccd0597-706a-4593-b691-8b842788275c}" ma:internalName="TaxCatchAll" ma:showField="CatchAllData" ma:web="0a71efe2-5848-4835-ba9f-8faf6945352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264A0FE-E4F2-41B0-89E4-81955B674B1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0C43306-2650-403D-A6FE-72D4D0D5497D}">
  <ds:schemaRefs>
    <ds:schemaRef ds:uri="http://schemas.microsoft.com/office/2006/metadata/properties"/>
    <ds:schemaRef ds:uri="http://schemas.microsoft.com/office/infopath/2007/PartnerControls"/>
    <ds:schemaRef ds:uri="0a71efe2-5848-4835-ba9f-8faf6945352d"/>
    <ds:schemaRef ds:uri="831850e5-ca91-43e1-afa5-cf72b3205c9b"/>
  </ds:schemaRefs>
</ds:datastoreItem>
</file>

<file path=customXml/itemProps3.xml><?xml version="1.0" encoding="utf-8"?>
<ds:datastoreItem xmlns:ds="http://schemas.openxmlformats.org/officeDocument/2006/customXml" ds:itemID="{E6736ECD-9E2C-4682-8F2E-E95C9961B41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31850e5-ca91-43e1-afa5-cf72b3205c9b"/>
    <ds:schemaRef ds:uri="0a71efe2-5848-4835-ba9f-8faf6945352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26ac4c88-3875-4bc2-aac4-371aa6c119c2}" enabled="1" method="Standard" siteId="{a289e960-a538-4db3-adf0-845b57e616cf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16</cp:revision>
  <dcterms:created xsi:type="dcterms:W3CDTF">2013-01-27T09:14:16Z</dcterms:created>
  <dcterms:modified xsi:type="dcterms:W3CDTF">2026-08-10T14:23:31Z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0x010100F52C4518E1ED9C4C808F6F104771DAF4</vt:lpwstr>
  </property>
  <property fmtid="{D5CDD505-2E9C-101B-9397-08002B2CF9AE}" pid="3" name="MediaServiceImageTags">
    <vt:lpwstr/>
  </property>
</Properties>
</file>