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C9FB71E-1D7A-88C5-AE10-87838B1C81D2}" v="24" dt="2026-08-10T11:20:05.7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sha C R Utama Putri - CCO" userId="S::marsha.cipta@capcx.com::ce6c694b-f650-4986-94dd-3c7f7bdf1864" providerId="AD" clId="Web-{CC9FB71E-1D7A-88C5-AE10-87838B1C81D2}"/>
    <pc:docChg chg="modSld">
      <pc:chgData name="Marsha C R Utama Putri - CCO" userId="S::marsha.cipta@capcx.com::ce6c694b-f650-4986-94dd-3c7f7bdf1864" providerId="AD" clId="Web-{CC9FB71E-1D7A-88C5-AE10-87838B1C81D2}" dt="2026-08-10T11:20:05.059" v="19" actId="20577"/>
      <pc:docMkLst>
        <pc:docMk/>
      </pc:docMkLst>
      <pc:sldChg chg="addSp delSp modSp">
        <pc:chgData name="Marsha C R Utama Putri - CCO" userId="S::marsha.cipta@capcx.com::ce6c694b-f650-4986-94dd-3c7f7bdf1864" providerId="AD" clId="Web-{CC9FB71E-1D7A-88C5-AE10-87838B1C81D2}" dt="2026-08-10T11:19:23.713" v="6"/>
        <pc:sldMkLst>
          <pc:docMk/>
          <pc:sldMk cId="0" sldId="256"/>
        </pc:sldMkLst>
        <pc:spChg chg="add del mod">
          <ac:chgData name="Marsha C R Utama Putri - CCO" userId="S::marsha.cipta@capcx.com::ce6c694b-f650-4986-94dd-3c7f7bdf1864" providerId="AD" clId="Web-{CC9FB71E-1D7A-88C5-AE10-87838B1C81D2}" dt="2026-08-10T11:19:15.885" v="3" actId="20577"/>
          <ac:spMkLst>
            <pc:docMk/>
            <pc:sldMk cId="0" sldId="256"/>
            <ac:spMk id="8" creationId="{00000000-0000-0000-0000-000000000000}"/>
          </ac:spMkLst>
        </pc:spChg>
        <pc:spChg chg="del mod">
          <ac:chgData name="Marsha C R Utama Putri - CCO" userId="S::marsha.cipta@capcx.com::ce6c694b-f650-4986-94dd-3c7f7bdf1864" providerId="AD" clId="Web-{CC9FB71E-1D7A-88C5-AE10-87838B1C81D2}" dt="2026-08-10T11:19:23.713" v="6"/>
          <ac:spMkLst>
            <pc:docMk/>
            <pc:sldMk cId="0" sldId="256"/>
            <ac:spMk id="22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CC9FB71E-1D7A-88C5-AE10-87838B1C81D2}" dt="2026-08-10T11:19:27.010" v="7"/>
        <pc:sldMkLst>
          <pc:docMk/>
          <pc:sldMk cId="0" sldId="257"/>
        </pc:sldMkLst>
        <pc:spChg chg="del">
          <ac:chgData name="Marsha C R Utama Putri - CCO" userId="S::marsha.cipta@capcx.com::ce6c694b-f650-4986-94dd-3c7f7bdf1864" providerId="AD" clId="Web-{CC9FB71E-1D7A-88C5-AE10-87838B1C81D2}" dt="2026-08-10T11:19:27.010" v="7"/>
          <ac:spMkLst>
            <pc:docMk/>
            <pc:sldMk cId="0" sldId="257"/>
            <ac:spMk id="63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CC9FB71E-1D7A-88C5-AE10-87838B1C81D2}" dt="2026-08-10T11:19:31.964" v="8"/>
        <pc:sldMkLst>
          <pc:docMk/>
          <pc:sldMk cId="0" sldId="258"/>
        </pc:sldMkLst>
        <pc:spChg chg="del">
          <ac:chgData name="Marsha C R Utama Putri - CCO" userId="S::marsha.cipta@capcx.com::ce6c694b-f650-4986-94dd-3c7f7bdf1864" providerId="AD" clId="Web-{CC9FB71E-1D7A-88C5-AE10-87838B1C81D2}" dt="2026-08-10T11:19:31.964" v="8"/>
          <ac:spMkLst>
            <pc:docMk/>
            <pc:sldMk cId="0" sldId="258"/>
            <ac:spMk id="27" creationId="{00000000-0000-0000-0000-000000000000}"/>
          </ac:spMkLst>
        </pc:spChg>
      </pc:sldChg>
      <pc:sldChg chg="delSp modSp">
        <pc:chgData name="Marsha C R Utama Putri - CCO" userId="S::marsha.cipta@capcx.com::ce6c694b-f650-4986-94dd-3c7f7bdf1864" providerId="AD" clId="Web-{CC9FB71E-1D7A-88C5-AE10-87838B1C81D2}" dt="2026-08-10T11:19:38.464" v="11"/>
        <pc:sldMkLst>
          <pc:docMk/>
          <pc:sldMk cId="0" sldId="259"/>
        </pc:sldMkLst>
        <pc:spChg chg="del mod">
          <ac:chgData name="Marsha C R Utama Putri - CCO" userId="S::marsha.cipta@capcx.com::ce6c694b-f650-4986-94dd-3c7f7bdf1864" providerId="AD" clId="Web-{CC9FB71E-1D7A-88C5-AE10-87838B1C81D2}" dt="2026-08-10T11:19:38.464" v="11"/>
          <ac:spMkLst>
            <pc:docMk/>
            <pc:sldMk cId="0" sldId="259"/>
            <ac:spMk id="28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CC9FB71E-1D7A-88C5-AE10-87838B1C81D2}" dt="2026-08-10T11:19:41.980" v="12"/>
        <pc:sldMkLst>
          <pc:docMk/>
          <pc:sldMk cId="0" sldId="260"/>
        </pc:sldMkLst>
        <pc:spChg chg="del">
          <ac:chgData name="Marsha C R Utama Putri - CCO" userId="S::marsha.cipta@capcx.com::ce6c694b-f650-4986-94dd-3c7f7bdf1864" providerId="AD" clId="Web-{CC9FB71E-1D7A-88C5-AE10-87838B1C81D2}" dt="2026-08-10T11:19:41.980" v="12"/>
          <ac:spMkLst>
            <pc:docMk/>
            <pc:sldMk cId="0" sldId="260"/>
            <ac:spMk id="19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CC9FB71E-1D7A-88C5-AE10-87838B1C81D2}" dt="2026-08-10T11:19:45.168" v="13"/>
        <pc:sldMkLst>
          <pc:docMk/>
          <pc:sldMk cId="0" sldId="261"/>
        </pc:sldMkLst>
        <pc:spChg chg="del">
          <ac:chgData name="Marsha C R Utama Putri - CCO" userId="S::marsha.cipta@capcx.com::ce6c694b-f650-4986-94dd-3c7f7bdf1864" providerId="AD" clId="Web-{CC9FB71E-1D7A-88C5-AE10-87838B1C81D2}" dt="2026-08-10T11:19:45.168" v="13"/>
          <ac:spMkLst>
            <pc:docMk/>
            <pc:sldMk cId="0" sldId="261"/>
            <ac:spMk id="58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CC9FB71E-1D7A-88C5-AE10-87838B1C81D2}" dt="2026-08-10T11:19:48.762" v="14"/>
        <pc:sldMkLst>
          <pc:docMk/>
          <pc:sldMk cId="0" sldId="262"/>
        </pc:sldMkLst>
        <pc:spChg chg="del">
          <ac:chgData name="Marsha C R Utama Putri - CCO" userId="S::marsha.cipta@capcx.com::ce6c694b-f650-4986-94dd-3c7f7bdf1864" providerId="AD" clId="Web-{CC9FB71E-1D7A-88C5-AE10-87838B1C81D2}" dt="2026-08-10T11:19:48.762" v="14"/>
          <ac:spMkLst>
            <pc:docMk/>
            <pc:sldMk cId="0" sldId="262"/>
            <ac:spMk id="52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CC9FB71E-1D7A-88C5-AE10-87838B1C81D2}" dt="2026-08-10T11:19:52.981" v="15"/>
        <pc:sldMkLst>
          <pc:docMk/>
          <pc:sldMk cId="0" sldId="263"/>
        </pc:sldMkLst>
        <pc:spChg chg="del">
          <ac:chgData name="Marsha C R Utama Putri - CCO" userId="S::marsha.cipta@capcx.com::ce6c694b-f650-4986-94dd-3c7f7bdf1864" providerId="AD" clId="Web-{CC9FB71E-1D7A-88C5-AE10-87838B1C81D2}" dt="2026-08-10T11:19:52.981" v="15"/>
          <ac:spMkLst>
            <pc:docMk/>
            <pc:sldMk cId="0" sldId="263"/>
            <ac:spMk id="30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CC9FB71E-1D7A-88C5-AE10-87838B1C81D2}" dt="2026-08-10T11:19:56.168" v="16"/>
        <pc:sldMkLst>
          <pc:docMk/>
          <pc:sldMk cId="0" sldId="264"/>
        </pc:sldMkLst>
        <pc:spChg chg="del">
          <ac:chgData name="Marsha C R Utama Putri - CCO" userId="S::marsha.cipta@capcx.com::ce6c694b-f650-4986-94dd-3c7f7bdf1864" providerId="AD" clId="Web-{CC9FB71E-1D7A-88C5-AE10-87838B1C81D2}" dt="2026-08-10T11:19:56.168" v="16"/>
          <ac:spMkLst>
            <pc:docMk/>
            <pc:sldMk cId="0" sldId="264"/>
            <ac:spMk id="70" creationId="{00000000-0000-0000-0000-000000000000}"/>
          </ac:spMkLst>
        </pc:spChg>
      </pc:sldChg>
      <pc:sldChg chg="delSp">
        <pc:chgData name="Marsha C R Utama Putri - CCO" userId="S::marsha.cipta@capcx.com::ce6c694b-f650-4986-94dd-3c7f7bdf1864" providerId="AD" clId="Web-{CC9FB71E-1D7A-88C5-AE10-87838B1C81D2}" dt="2026-08-10T11:19:59.387" v="17"/>
        <pc:sldMkLst>
          <pc:docMk/>
          <pc:sldMk cId="0" sldId="265"/>
        </pc:sldMkLst>
        <pc:spChg chg="del">
          <ac:chgData name="Marsha C R Utama Putri - CCO" userId="S::marsha.cipta@capcx.com::ce6c694b-f650-4986-94dd-3c7f7bdf1864" providerId="AD" clId="Web-{CC9FB71E-1D7A-88C5-AE10-87838B1C81D2}" dt="2026-08-10T11:19:59.387" v="17"/>
          <ac:spMkLst>
            <pc:docMk/>
            <pc:sldMk cId="0" sldId="265"/>
            <ac:spMk id="86" creationId="{00000000-0000-0000-0000-000000000000}"/>
          </ac:spMkLst>
        </pc:spChg>
      </pc:sldChg>
      <pc:sldChg chg="modSp">
        <pc:chgData name="Marsha C R Utama Putri - CCO" userId="S::marsha.cipta@capcx.com::ce6c694b-f650-4986-94dd-3c7f7bdf1864" providerId="AD" clId="Web-{CC9FB71E-1D7A-88C5-AE10-87838B1C81D2}" dt="2026-08-10T11:20:05.059" v="19" actId="20577"/>
        <pc:sldMkLst>
          <pc:docMk/>
          <pc:sldMk cId="0" sldId="266"/>
        </pc:sldMkLst>
        <pc:spChg chg="mod">
          <ac:chgData name="Marsha C R Utama Putri - CCO" userId="S::marsha.cipta@capcx.com::ce6c694b-f650-4986-94dd-3c7f7bdf1864" providerId="AD" clId="Web-{CC9FB71E-1D7A-88C5-AE10-87838B1C81D2}" dt="2026-08-10T11:20:05.059" v="19" actId="20577"/>
          <ac:spMkLst>
            <pc:docMk/>
            <pc:sldMk cId="0" sldId="266"/>
            <ac:spMk id="28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300">
                <a:solidFill>
                  <a:srgbClr val="1B2A4A"/>
                </a:solidFill>
              </a:rPr>
              <a:t>Failure Case — Before vs Target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Failure Cases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C0392B"/>
              </a:solidFill>
            </c:spPr>
            <c:extLst>
              <c:ext xmlns:c16="http://schemas.microsoft.com/office/drawing/2014/chart" uri="{C3380CC4-5D6E-409C-BE32-E72D297353CC}">
                <c16:uniqueId val="{00000001-402D-4135-887B-09CF02796EB8}"/>
              </c:ext>
            </c:extLst>
          </c:dPt>
          <c:dPt>
            <c:idx val="1"/>
            <c:invertIfNegative val="1"/>
            <c:bubble3D val="0"/>
            <c:spPr>
              <a:solidFill>
                <a:srgbClr val="2E7D32"/>
              </a:solidFill>
            </c:spPr>
            <c:extLst>
              <c:ext xmlns:c16="http://schemas.microsoft.com/office/drawing/2014/chart" uri="{C3380CC4-5D6E-409C-BE32-E72D297353CC}">
                <c16:uniqueId val="{00000003-402D-4135-887B-09CF02796EB8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6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Before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2D-4135-887B-09CF02796E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.2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778240" y="0"/>
            <a:ext cx="3413455" cy="68580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778240" y="0"/>
            <a:ext cx="73152" cy="685800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640080"/>
            <a:ext cx="76809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2B01E"/>
                </a:solidFill>
                <a:latin typeface="Calibri"/>
              </a:rPr>
              <a:t>ABNORMALITY REPORT — RCA &amp; CAPA/PAA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051560"/>
            <a:ext cx="768096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D9E1F2"/>
                </a:solidFill>
                <a:latin typeface="Calibri"/>
              </a:rPr>
              <a:t>Equipment Related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7680960" cy="2011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Cooling Water Pump PM-4405B (Motor Driven)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7680960" cy="8229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 i="1">
                <a:solidFill>
                  <a:srgbClr val="F2B01E"/>
                </a:solidFill>
                <a:latin typeface="Georgia"/>
              </a:rPr>
              <a:t>Motor Bearing Failure (Overheating)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463040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AR NUMBER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700784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AR-2026-NUP-0089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60" y="2249424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TAG / PLANT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2487168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PM-4405B  |  NUP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3035808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DATE OCCURRENCE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273552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08 Jul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822192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PRE-RISK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4059936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III  (Score 200)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4608576"/>
            <a:ext cx="2926080" cy="25603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F2B01E"/>
                </a:solidFill>
                <a:latin typeface="Calibri"/>
              </a:rPr>
              <a:t>PIC (RCA)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4846320"/>
            <a:ext cx="292608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REL-02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26480"/>
            <a:ext cx="82296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1">
                <a:solidFill>
                  <a:srgbClr val="D9E1F2"/>
                </a:solidFill>
                <a:latin typeface="Calibri"/>
              </a:rPr>
              <a:t>Procedure No. RCA-P-0050-03  •  Form RCA-F-0075-02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PROBLEM IDENTIFICATION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AR Details &amp; Problem Statement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02/11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25880"/>
            <a:ext cx="64008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AR IDENTIFICATION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728216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651760" y="1728216"/>
            <a:ext cx="42976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728216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Title / Problem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728216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Cooling Water Pump PM-4405B (Motor Driven) — Motor Bearing Failure (Overheating)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27685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651760" y="2276856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27685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AR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27685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OPEDR (Operation) — Uptime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60904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651760" y="2660904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660904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Plant / Unit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660904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NUP  (Nova Utility Plant)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44952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651760" y="3044952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044952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Tag / Eq. Class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3044952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PM-4405B  |  Class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429000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2651760" y="3429000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" y="3429000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Discipline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3429000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ELE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3813048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651760" y="3813048"/>
            <a:ext cx="4297680" cy="38404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3813048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Occurrence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813048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08 Jul 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197096"/>
            <a:ext cx="2103120" cy="384048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51760" y="4197096"/>
            <a:ext cx="429768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0080" y="4197096"/>
            <a:ext cx="196596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Date Reported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0" y="4197096"/>
            <a:ext cx="411480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08 Jul 2026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581144"/>
            <a:ext cx="210312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651760" y="4581144"/>
            <a:ext cx="4297680" cy="54864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40080" y="4581144"/>
            <a:ext cx="19659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B2A4A"/>
                </a:solidFill>
                <a:latin typeface="Calibri"/>
              </a:rPr>
              <a:t>Immediate 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0" y="4581144"/>
            <a:ext cx="41148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Start standby CW pump PM-4405C, isolate PM-4405B, replace motor DE &amp; NDE bearings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31520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7315200" y="1371600"/>
            <a:ext cx="109728" cy="105156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53465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SEVERITY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3465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Moderate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84080" y="137160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84080" y="1371600"/>
            <a:ext cx="109728" cy="1051560"/>
          </a:xfrm>
          <a:prstGeom prst="rect">
            <a:avLst/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10003536" y="148132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PRE-RISK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03536" y="173736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III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7315200" y="2560320"/>
            <a:ext cx="109728" cy="105156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53465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DOWNTIME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3465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8.0 h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2560320"/>
            <a:ext cx="2331720" cy="1051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9784080" y="2560320"/>
            <a:ext cx="109728" cy="1051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0003536" y="2670048"/>
            <a:ext cx="2020824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6B7280"/>
                </a:solidFill>
                <a:latin typeface="Calibri"/>
              </a:rPr>
              <a:t>LOSS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003536" y="2926080"/>
            <a:ext cx="2020824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1B2A4A"/>
                </a:solidFill>
                <a:latin typeface="Georgia"/>
              </a:rPr>
              <a:t>$112.0k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15200" y="3794760"/>
            <a:ext cx="4297680" cy="233172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7315200" y="3794760"/>
            <a:ext cx="4297680" cy="38404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498079" y="4279392"/>
            <a:ext cx="3931920" cy="17373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Cooling Water Pump PM-4405B motor tripped on 08-Jul-2026 due to drive-end bearing failure from grease degradation and an over-extended re-lubrication interval.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GENERAL PROCESS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Chronology of Events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03/11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417320"/>
            <a:ext cx="36576" cy="45720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996696" y="14630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417320" y="14173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06-Jul-2026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14173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Cooling-water system running on PM-4405B; motor DE bearing temperature trending up (68 → 84 °C).</a:t>
            </a:r>
          </a:p>
        </p:txBody>
      </p:sp>
      <p:sp>
        <p:nvSpPr>
          <p:cNvPr id="12" name="Oval 11"/>
          <p:cNvSpPr/>
          <p:nvPr/>
        </p:nvSpPr>
        <p:spPr>
          <a:xfrm>
            <a:off x="996696" y="23774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17320" y="23317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08-Jul-2026 13:20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86200" y="23317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Motor bearing high-temperature alarm; motor tripped on winding/bearing over-temp.</a:t>
            </a:r>
          </a:p>
        </p:txBody>
      </p:sp>
      <p:sp>
        <p:nvSpPr>
          <p:cNvPr id="15" name="Oval 14"/>
          <p:cNvSpPr/>
          <p:nvPr/>
        </p:nvSpPr>
        <p:spPr>
          <a:xfrm>
            <a:off x="996696" y="32918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417320" y="32461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08-Jul-2026 13:35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2461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Standby PM-4405C started; cooling-water supply maintained at reduced margin.</a:t>
            </a:r>
          </a:p>
        </p:txBody>
      </p:sp>
      <p:sp>
        <p:nvSpPr>
          <p:cNvPr id="18" name="Oval 17"/>
          <p:cNvSpPr/>
          <p:nvPr/>
        </p:nvSpPr>
        <p:spPr>
          <a:xfrm>
            <a:off x="996696" y="42062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17320" y="41605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08-Jul-2026 16:00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1605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Motor DE bearing found seized; grease degraded/carbonized. NDE bearing marginal.</a:t>
            </a:r>
          </a:p>
        </p:txBody>
      </p:sp>
      <p:sp>
        <p:nvSpPr>
          <p:cNvPr id="21" name="Oval 20"/>
          <p:cNvSpPr/>
          <p:nvPr/>
        </p:nvSpPr>
        <p:spPr>
          <a:xfrm>
            <a:off x="996696" y="5120640"/>
            <a:ext cx="237744" cy="237744"/>
          </a:xfrm>
          <a:prstGeom prst="ellipse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417320" y="5074920"/>
            <a:ext cx="237744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08-Jul-2026 21:20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5074920"/>
            <a:ext cx="7863840" cy="8686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DE &amp; NDE bearings replaced and re-greased; motor recommissioned.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97280" y="5989320"/>
            <a:ext cx="10058400" cy="45720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280160" y="5989320"/>
            <a:ext cx="9692640" cy="4572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Problem: Cooling Water Pump PM-4405B motor tripped on 08-Jul-2026 due to drive-end bearing failure from grease degradation and an over-extended re-lubrication interval.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ASSESS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Past Performance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04/11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448056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371600"/>
            <a:ext cx="548640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HISTORICAL DATA &amp;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29200" cy="3749039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PM-4405B motor bearing temperature baseline is 60–68 °C. Re-lubrication was performed on a fixed 12-month interval regardless of duty/ambient. Bearing temperature was not trended in CMMS, so degradation went unnoticed.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303520" cy="4480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309360" y="1371600"/>
            <a:ext cx="5303520" cy="40233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IMPACT SUMMARY (4W)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965960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12280" y="1965960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What: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258568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PM-4405B motor DE bearing failed / overheated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907792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12280" y="2907792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When: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200400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08-Jul-2026 (13:20)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37960" y="3849624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12280" y="3849624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Scope: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2280" y="4142232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Loss of one cooling-water pump; reduced CW margin (standby covered)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4791456"/>
            <a:ext cx="146304" cy="73152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812280" y="4791456"/>
            <a:ext cx="45720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Uptime Loss: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5084064"/>
            <a:ext cx="461772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8.0 hours  →  160.0 ton  →  $112.0k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TARGET SETTING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Actual vs Target Condition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05/11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86400" cy="1234440"/>
          </a:xfrm>
          <a:prstGeom prst="rect">
            <a:avLst/>
          </a:prstGeom>
          <a:solidFill>
            <a:srgbClr val="FBE9E7"/>
          </a:solidFill>
          <a:ln w="1524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8132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C0392B"/>
                </a:solidFill>
                <a:latin typeface="Calibri"/>
              </a:rPr>
              <a:t>ACTUAL CONDITION (Before Improvement)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1051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CW pump motor trip due to bearing overheating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5486400" cy="1234440"/>
          </a:xfrm>
          <a:prstGeom prst="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31520" y="289864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2E7D32"/>
                </a:solidFill>
                <a:latin typeface="Calibri"/>
              </a:rPr>
              <a:t>TARGET CONDITION (Project 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27832"/>
            <a:ext cx="51206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 i="0">
                <a:solidFill>
                  <a:srgbClr val="222A35"/>
                </a:solidFill>
                <a:latin typeface="Calibri"/>
              </a:rPr>
              <a:t>No motor bearing failure due to lubrication (bearing temp &lt; 75 °C, risk-based re-greasing)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297680"/>
            <a:ext cx="5486400" cy="1554480"/>
          </a:xfrm>
          <a:prstGeom prst="rect">
            <a:avLst/>
          </a:prstGeom>
          <a:solidFill>
            <a:srgbClr val="F2F5FA"/>
          </a:solidFill>
          <a:ln w="12700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4407408"/>
            <a:ext cx="5120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TARGET METRIC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754880"/>
            <a:ext cx="5120640" cy="10058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Recurrence of this equipment failure mode:</a:t>
            </a:r>
          </a:p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222A35"/>
                </a:solidFill>
                <a:latin typeface="Calibri"/>
              </a:rPr>
              <a:t>     Before = 1 case   →   Target = 0 case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6400800" y="1417320"/>
          <a:ext cx="5212080" cy="4434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Parameter Verification (4P)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06/11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31927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Problem Phenomenon / Parameter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31766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527547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Motor bearing temperature above limit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1766" y="1719072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577486" y="1719072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527547" y="1719072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573267" y="1719072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DE bearing reached 84 °C vs 75 °C alarm — grease breakdown.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32304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32304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32304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32304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Motor over-loaded (high ampere)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31766" y="2432304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577486" y="2432304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27547" y="2432304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573267" y="2432304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Running current 132 A vs 150 A rated — within limit.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145536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145536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145536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145536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Cooling-fan / ventilation blocked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31766" y="3145536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577486" y="3145536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27547" y="3145536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573267" y="3145536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Fan cowl clean; ambient ventilation adequate.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58768"/>
            <a:ext cx="663854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858768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858768"/>
            <a:ext cx="331927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858768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Grease type incorrect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31766" y="3858768"/>
            <a:ext cx="995781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577486" y="3858768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527547" y="3858768"/>
            <a:ext cx="6085332" cy="713232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573267" y="3858768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Correct high-temp lithium-complex grease used.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572000"/>
            <a:ext cx="663854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94360" y="4572000"/>
            <a:ext cx="572414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12494" y="4572000"/>
            <a:ext cx="331927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258214" y="4572000"/>
            <a:ext cx="322783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Bearing beyond service life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31766" y="4572000"/>
            <a:ext cx="995781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4577486" y="4572000"/>
            <a:ext cx="904341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27547" y="4572000"/>
            <a:ext cx="6085332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5573267" y="4572000"/>
            <a:ext cx="5993892" cy="71323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Bearing in service 2 years vs 5-year design — within life.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17220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6B7280"/>
                </a:solidFill>
                <a:latin typeface="Calibri"/>
              </a:rPr>
              <a:t>NG = current condition not meeting standard (problem)   •   G = meets standard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ROOT CAUSE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4M + 1E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07/11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#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376184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Man / Machine / Method / Material / Environment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4335" y="1371600"/>
            <a:ext cx="99578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70116" y="1371600"/>
            <a:ext cx="564276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Evidence / Finding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1719072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94360" y="1719072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12494" y="1719072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258214" y="1719072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Re-lubrication interval not risk-based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974335" y="1719072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0055" y="1719072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70116" y="1719072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15836" y="1719072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Fixed 12-month interval too long for duty &amp; ambient — grease degraded.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2468880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94360" y="2468880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12494" y="2468880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258214" y="2468880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Bearing temperature not trended in CMMS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74335" y="2468880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020055" y="2468880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70116" y="2468880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15836" y="2468880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No condition-based trigger; only alarm at failure point.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3218688"/>
            <a:ext cx="663854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" y="3218688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12494" y="3218688"/>
            <a:ext cx="376184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58214" y="3218688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Vibration route excludes utility motors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74335" y="3218688"/>
            <a:ext cx="995781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20055" y="3218688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C0392B"/>
                </a:solidFill>
                <a:latin typeface="Calibri"/>
              </a:rPr>
              <a:t>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70116" y="3218688"/>
            <a:ext cx="5642762" cy="74980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015836" y="3218688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PM-4405B not on the monthly vibration route.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968496"/>
            <a:ext cx="663854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3968496"/>
            <a:ext cx="572414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X4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12494" y="3968496"/>
            <a:ext cx="376184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258214" y="3968496"/>
            <a:ext cx="367040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Operator round frequency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74335" y="3968496"/>
            <a:ext cx="995781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020055" y="3968496"/>
            <a:ext cx="904341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2E7D32"/>
                </a:solidFill>
                <a:latin typeface="Calibri"/>
              </a:rPr>
              <a:t>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970116" y="3968496"/>
            <a:ext cx="5642762" cy="74980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015836" y="3968496"/>
            <a:ext cx="5551322" cy="74980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222A35"/>
                </a:solidFill>
                <a:latin typeface="Calibri"/>
              </a:rPr>
              <a:t>Rounds performed per schedule; local gauge read.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06440"/>
            <a:ext cx="11064240" cy="566928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548640" y="5806440"/>
            <a:ext cx="146304" cy="566928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68680" y="5806440"/>
            <a:ext cx="10607040" cy="56692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ROOT CAUSE:  Motor drive-end bearing failure caused by grease degradation from an over-extended, non-risk-based re-lubrication interval, undetected due to absence of bearing-temperature trending, resulting in bearing overheating and motor trip.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RCA — MATRIX PRIORITY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Impact vs Control Prioritization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08/11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0" y="1554480"/>
            <a:ext cx="2468880" cy="1143000"/>
          </a:xfrm>
          <a:prstGeom prst="rect">
            <a:avLst/>
          </a:prstGeom>
          <a:solidFill>
            <a:srgbClr val="FFF3C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80560" y="1554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949440" y="1554480"/>
            <a:ext cx="2468880" cy="1143000"/>
          </a:xfrm>
          <a:prstGeom prst="rect">
            <a:avLst/>
          </a:prstGeom>
          <a:solidFill>
            <a:srgbClr val="F8C471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011680" y="2697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60" y="2697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solidFill>
            <a:srgbClr val="F6A85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2011680" y="3840480"/>
            <a:ext cx="2468880" cy="1143000"/>
          </a:xfrm>
          <a:prstGeom prst="rect">
            <a:avLst/>
          </a:prstGeom>
          <a:solidFill>
            <a:srgbClr val="CFE8C5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480560" y="3840480"/>
            <a:ext cx="2468880" cy="1143000"/>
          </a:xfrm>
          <a:prstGeom prst="rect">
            <a:avLst/>
          </a:prstGeom>
          <a:solidFill>
            <a:srgbClr val="E8F2D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solidFill>
            <a:srgbClr val="FFE09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49440" y="2697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X1  X2  X3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840480"/>
            <a:ext cx="246888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 i="0">
                <a:solidFill>
                  <a:srgbClr val="1B2A4A"/>
                </a:solidFill>
                <a:latin typeface="Calibri"/>
              </a:rPr>
              <a:t>P1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5020056"/>
            <a:ext cx="246888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5367528"/>
            <a:ext cx="74066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IMPACT  →</a:t>
            </a:r>
          </a:p>
        </p:txBody>
      </p:sp>
      <p:sp>
        <p:nvSpPr>
          <p:cNvPr id="23" name="TextBox 22"/>
          <p:cNvSpPr txBox="1"/>
          <p:nvPr/>
        </p:nvSpPr>
        <p:spPr>
          <a:xfrm rot="16200000">
            <a:off x="640080" y="1554480"/>
            <a:ext cx="1280160" cy="3429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1B2A4A"/>
                </a:solidFill>
                <a:latin typeface="Calibri"/>
              </a:rPr>
              <a:t>CONTROL  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1554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2697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Medium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3840480"/>
            <a:ext cx="548640" cy="114300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6B7280"/>
                </a:solidFill>
                <a:latin typeface="Calibri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011680" y="5806440"/>
            <a:ext cx="8595360" cy="548640"/>
          </a:xfrm>
          <a:prstGeom prst="rect">
            <a:avLst/>
          </a:prstGeom>
          <a:solidFill>
            <a:srgbClr val="D9E1F2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2194560" y="5806440"/>
            <a:ext cx="822960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Prioritized root causes (high impact) are addressed first via Corrective &amp; Pro-Active Actions 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Corrective &amp; Pro-Active Action (CAPAA)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09/11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71600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12494" y="1371600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97826" y="1371600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736177" y="1371600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842601" y="1371600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1719072"/>
            <a:ext cx="66385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94360" y="171907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212494" y="1719072"/>
            <a:ext cx="6085332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258214" y="171907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Revise PM-4405B re-lubrication interval to risk-based (4-monthly)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7826" y="1719072"/>
            <a:ext cx="1438351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43546" y="171907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31-Jul-2026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736177" y="1719072"/>
            <a:ext cx="1106424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81897" y="171907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REL-02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2601" y="1719072"/>
            <a:ext cx="1770278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888321" y="171907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E68A00"/>
                </a:solidFill>
                <a:latin typeface="Calibri"/>
              </a:rPr>
              <a:t>In Progress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2542032"/>
            <a:ext cx="66385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2542032"/>
            <a:ext cx="57241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12494" y="2542032"/>
            <a:ext cx="6085332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258214" y="2542032"/>
            <a:ext cx="5993892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motor bearing temperature trending &amp; alert to CMMS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97826" y="2542032"/>
            <a:ext cx="1438351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43546" y="2542032"/>
            <a:ext cx="1346911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31-Aug-2026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736177" y="2542032"/>
            <a:ext cx="1106424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781897" y="2542032"/>
            <a:ext cx="1014984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842601" y="2542032"/>
            <a:ext cx="1770278" cy="822960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88321" y="2542032"/>
            <a:ext cx="1678838" cy="8229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547872"/>
            <a:ext cx="109728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PRO-ACTIVE ACTION (roll-out to similar equipment)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48640" y="3895344"/>
            <a:ext cx="66385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RC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12494" y="3895344"/>
            <a:ext cx="6085332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Pro-Active Action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7297826" y="3895344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736177" y="389534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842601" y="389534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Status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" y="4242816"/>
            <a:ext cx="66385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594360" y="4242816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12494" y="4242816"/>
            <a:ext cx="6085332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258214" y="4242816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Apply risk-based re-greasing to all CW pump motors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297826" y="4242816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7343546" y="4242816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31-Aug-2026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6177" y="4242816"/>
            <a:ext cx="1106424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781897" y="4242816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REL-02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842601" y="4242816"/>
            <a:ext cx="177027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888321" y="4242816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4901184"/>
            <a:ext cx="66385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594360" y="4901184"/>
            <a:ext cx="57241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212494" y="4901184"/>
            <a:ext cx="6085332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1258214" y="4901184"/>
            <a:ext cx="5993892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Extend bearing-temp trending to utility motor fleet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297826" y="4901184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343546" y="4901184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30-Sep-2026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736177" y="4901184"/>
            <a:ext cx="1106424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781897" y="4901184"/>
            <a:ext cx="1014984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42601" y="4901184"/>
            <a:ext cx="177027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9888321" y="4901184"/>
            <a:ext cx="167883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C0392B"/>
                </a:solidFill>
                <a:latin typeface="Calibri"/>
              </a:rPr>
              <a:t>Open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6304"/>
            <a:ext cx="91440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02336"/>
            <a:ext cx="10424160" cy="603504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FFFFFF"/>
                </a:solidFill>
                <a:latin typeface="Georgia"/>
              </a:rPr>
              <a:t>Preventive &amp; Risk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146304"/>
            <a:ext cx="1005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F2B01E"/>
                </a:solidFill>
                <a:latin typeface="Calibri"/>
              </a:rPr>
              <a:t>10/11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PREVENTIVE / PRO-ACTIVE ACTION (Good Condition Parameters)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1572768"/>
            <a:ext cx="774496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23136" y="157276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Possible Root Cause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978553" y="1572768"/>
            <a:ext cx="4868265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Preventive Action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846818" y="1572768"/>
            <a:ext cx="1438351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285169" y="1572768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1920240"/>
            <a:ext cx="774496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94360" y="1920240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X3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23136" y="1920240"/>
            <a:ext cx="2655417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368856" y="1920240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Motor not on vibration route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8553" y="1920240"/>
            <a:ext cx="4868265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024273" y="1920240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Add PM-4405B/C to monthly vibration &amp; thermography route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846818" y="1920240"/>
            <a:ext cx="1438351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92538" y="1920240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31-Jul-2026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85169" y="1920240"/>
            <a:ext cx="1327708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330889" y="1920240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578608"/>
            <a:ext cx="774496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94360" y="2578608"/>
            <a:ext cx="683056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P1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323136" y="2578608"/>
            <a:ext cx="2655417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368856" y="2578608"/>
            <a:ext cx="2563977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Bearing over-temp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78553" y="2578608"/>
            <a:ext cx="4868265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024273" y="2578608"/>
            <a:ext cx="4776825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Verify motor cooling-fan &amp; louvre condition each PM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846818" y="2578608"/>
            <a:ext cx="1438351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892538" y="2578608"/>
            <a:ext cx="1346911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31-Jul-2026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285169" y="2578608"/>
            <a:ext cx="1327708" cy="658368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330889" y="2578608"/>
            <a:ext cx="1236268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ELE-01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465576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RISK ANALYSIS OF CORRECTIVE ACTION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Corrective 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646627" y="3813048"/>
            <a:ext cx="265541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Potential Risk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302044" y="3813048"/>
            <a:ext cx="3097987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Countermeasure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400031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Plan Date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solidFill>
            <a:srgbClr val="2E75B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506455" y="3813048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 i="0">
                <a:solidFill>
                  <a:srgbClr val="FFFFFF"/>
                </a:solidFill>
                <a:latin typeface="Calibri"/>
              </a:rPr>
              <a:t>PIC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594360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Shorten re-greasing interval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46627" y="4160520"/>
            <a:ext cx="265541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3692347" y="4160520"/>
            <a:ext cx="256397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Over-greasing risk (churning / seal push-out)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02044" y="4160520"/>
            <a:ext cx="3097987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6347764" y="4160520"/>
            <a:ext cx="3006547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Use metered re-greasing per bearing volume calc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400031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445751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31-Jul-2026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506455" y="4160520"/>
            <a:ext cx="1106424" cy="731520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10552175" y="4160520"/>
            <a:ext cx="1014984" cy="7315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222A35"/>
                </a:solidFill>
                <a:latin typeface="Calibri"/>
              </a:rPr>
              <a:t>REL-02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074920"/>
            <a:ext cx="109728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B2A4A"/>
                </a:solidFill>
                <a:latin typeface="Calibri"/>
              </a:rPr>
              <a:t>PM SCHEDULE ESTABLISHED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548640" y="5404104"/>
            <a:ext cx="1106424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PM No.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1655064" y="5404104"/>
            <a:ext cx="685982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Description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514892" y="5404104"/>
            <a:ext cx="177027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Group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solidFill>
            <a:srgbClr val="1F4E78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10285170" y="5404104"/>
            <a:ext cx="1327708" cy="347472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Interval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48640" y="5751576"/>
            <a:ext cx="1106424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594360" y="5751576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655064" y="5751576"/>
            <a:ext cx="685982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1700784" y="5751576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Risk-based motor bearing re-greasing PM-4405B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514892" y="5751576"/>
            <a:ext cx="177027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TextBox 73"/>
          <p:cNvSpPr txBox="1"/>
          <p:nvPr/>
        </p:nvSpPr>
        <p:spPr>
          <a:xfrm>
            <a:off x="8560612" y="5751576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Electrical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85170" y="5751576"/>
            <a:ext cx="1327708" cy="310896"/>
          </a:xfrm>
          <a:prstGeom prst="rect">
            <a:avLst/>
          </a:prstGeom>
          <a:solidFill>
            <a:srgbClr val="FFFFFF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10330890" y="5751576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4-monthly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48640" y="6062472"/>
            <a:ext cx="1106424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594360" y="6062472"/>
            <a:ext cx="1014984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PM-2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1655064" y="6062472"/>
            <a:ext cx="685982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1700784" y="6062472"/>
            <a:ext cx="676838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Monthly motor bearing temperature &amp; vibration reading</a:t>
            </a:r>
          </a:p>
        </p:txBody>
      </p:sp>
      <p:sp>
        <p:nvSpPr>
          <p:cNvPr id="81" name="Rectangle 80"/>
          <p:cNvSpPr/>
          <p:nvPr/>
        </p:nvSpPr>
        <p:spPr>
          <a:xfrm>
            <a:off x="8514892" y="6062472"/>
            <a:ext cx="177027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8560612" y="6062472"/>
            <a:ext cx="167883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Reliability</a:t>
            </a:r>
          </a:p>
        </p:txBody>
      </p:sp>
      <p:sp>
        <p:nvSpPr>
          <p:cNvPr id="83" name="Rectangle 82"/>
          <p:cNvSpPr/>
          <p:nvPr/>
        </p:nvSpPr>
        <p:spPr>
          <a:xfrm>
            <a:off x="10285170" y="6062472"/>
            <a:ext cx="1327708" cy="310896"/>
          </a:xfrm>
          <a:prstGeom prst="rect">
            <a:avLst/>
          </a:prstGeom>
          <a:solidFill>
            <a:srgbClr val="F2F5FA"/>
          </a:solidFill>
          <a:ln w="9525">
            <a:solidFill>
              <a:srgbClr val="D9E1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10330890" y="6062472"/>
            <a:ext cx="1236268" cy="310896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222A35"/>
                </a:solidFill>
                <a:latin typeface="Calibri"/>
              </a:rPr>
              <a:t>Monthly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B7280"/>
                </a:solidFill>
                <a:latin typeface="Calibri"/>
              </a:rPr>
              <a:t>RCA &amp; CAPA/PAA  |  AR-2026-NUP-0089  |  PM-4405B — NUP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10972800" cy="6400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Downtime &amp; Closure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2697480" cy="91440"/>
          </a:xfrm>
          <a:prstGeom prst="rect">
            <a:avLst/>
          </a:prstGeom>
          <a:solidFill>
            <a:srgbClr val="F2B0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DOWNTIME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8.0 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2697480" cy="9144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56616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PRODUCTION 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160.0 ton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1371600"/>
            <a:ext cx="2697480" cy="91440"/>
          </a:xfrm>
          <a:prstGeom prst="rect">
            <a:avLst/>
          </a:prstGeom>
          <a:solidFill>
            <a:srgbClr val="FF8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ESTIMATED LOSS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$112.0k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1371600"/>
            <a:ext cx="2697480" cy="137160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9052560" y="1371600"/>
            <a:ext cx="2697480" cy="914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235440" y="1572768"/>
            <a:ext cx="237744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D9E1F2"/>
                </a:solidFill>
                <a:latin typeface="Calibri"/>
              </a:rPr>
              <a:t>PRE-RISK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874519"/>
            <a:ext cx="2377440" cy="7315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FFFFFF"/>
                </a:solidFill>
                <a:latin typeface="Georgia"/>
              </a:rPr>
              <a:t>III (200)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ROOT CAUSE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520440"/>
            <a:ext cx="5029200" cy="2468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Motor drive-end bearing failure caused by grease degradation from an over-extended, non-risk-based re-lubrication interval, undetected due to absence of bearing-temperature trending, resulting in bearing overheating and motor trip.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17920" y="3017520"/>
            <a:ext cx="5394960" cy="3108960"/>
          </a:xfrm>
          <a:prstGeom prst="rect">
            <a:avLst/>
          </a:prstGeom>
          <a:solidFill>
            <a:srgbClr val="1F4E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0" y="3154680"/>
            <a:ext cx="50292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F2B01E"/>
                </a:solidFill>
                <a:latin typeface="Calibri"/>
              </a:rPr>
              <a:t>KEY CORRECTIVE / PRO-ACTIVE ACTIONS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611880"/>
            <a:ext cx="502920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Revise PM-4405B re-lubrication interval to risk-based (4-monthly)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Add motor bearing temperature trending &amp; alert to CMMS</a:t>
            </a:r>
          </a:p>
          <a:p>
            <a:pPr>
              <a:lnSpc>
                <a:spcPct val="105000"/>
              </a:lnSpc>
              <a:spcAft>
                <a:spcPts val="1000"/>
              </a:spcAft>
            </a:pPr>
            <a:r>
              <a:rPr sz="1300" b="1">
                <a:solidFill>
                  <a:srgbClr val="F2B01E"/>
                </a:solidFill>
                <a:latin typeface="Calibri"/>
              </a:rPr>
              <a:t>•  </a:t>
            </a:r>
            <a:r>
              <a:rPr sz="1300">
                <a:solidFill>
                  <a:srgbClr val="FFFFFF"/>
                </a:solidFill>
                <a:latin typeface="Calibri"/>
              </a:rPr>
              <a:t>Add PM-4405B/C to monthly vibration &amp; thermography route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355080"/>
            <a:ext cx="10972800" cy="179536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D9E1F2"/>
                </a:solidFill>
                <a:latin typeface="Calibri"/>
              </a:rPr>
              <a:t>AR-2026-NUP-0089   •   PM-4405B — NUP </a:t>
            </a:r>
            <a:endParaRPr lang="en-US" sz="1000" b="0" i="1">
              <a:solidFill>
                <a:srgbClr val="D9E1F2"/>
              </a:solidFill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0a71efe2-5848-4835-ba9f-8faf6945352d" xsi:nil="true"/>
    <lcf76f155ced4ddcb4097134ff3c332f xmlns="831850e5-ca91-43e1-afa5-cf72b3205c9b">
      <Terms xmlns="http://schemas.microsoft.com/office/infopath/2007/PartnerControls"/>
    </lcf76f155ced4ddcb4097134ff3c332f>
    <Status xmlns="831850e5-ca91-43e1-afa5-cf72b3205c9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52C4518E1ED9C4C808F6F104771DAF4" ma:contentTypeVersion="18" ma:contentTypeDescription="Create a new document." ma:contentTypeScope="" ma:versionID="58198918a17d838bcb25a0e6a8e7af6d">
  <xsd:schema xmlns:xsd="http://www.w3.org/2001/XMLSchema" xmlns:xs="http://www.w3.org/2001/XMLSchema" xmlns:p="http://schemas.microsoft.com/office/2006/metadata/properties" xmlns:ns2="831850e5-ca91-43e1-afa5-cf72b3205c9b" xmlns:ns3="0a71efe2-5848-4835-ba9f-8faf6945352d" targetNamespace="http://schemas.microsoft.com/office/2006/metadata/properties" ma:root="true" ma:fieldsID="dbb7d9c8a963165d3a7bcebf80db274b" ns2:_="" ns3:_="">
    <xsd:import namespace="831850e5-ca91-43e1-afa5-cf72b3205c9b"/>
    <xsd:import namespace="0a71efe2-5848-4835-ba9f-8faf6945352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SearchProperties" minOccurs="0"/>
                <xsd:element ref="ns2:Statu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1850e5-ca91-43e1-afa5-cf72b3205c9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d4cbfe34-5b9c-4d8b-9c6a-ff67f326dec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Status" ma:index="23" nillable="true" ma:displayName="Status" ma:description="Status activity" ma:format="Dropdown" ma:internalName="Status">
      <xsd:simpleType>
        <xsd:restriction base="dms:Choice">
          <xsd:enumeration value="To do"/>
          <xsd:enumeration value="In Progress"/>
          <xsd:enumeration value="Complete"/>
        </xsd:restriction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71efe2-5848-4835-ba9f-8faf6945352d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5" nillable="true" ma:displayName="Taxonomy Catch All Column" ma:hidden="true" ma:list="{5ccd0597-706a-4593-b691-8b842788275c}" ma:internalName="TaxCatchAll" ma:showField="CatchAllData" ma:web="0a71efe2-5848-4835-ba9f-8faf6945352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4239BBC-E27C-4518-A928-3E8AB6B739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4BF0440-0020-4830-9BB8-5FB797F6AECF}">
  <ds:schemaRefs>
    <ds:schemaRef ds:uri="http://schemas.microsoft.com/office/2006/metadata/properties"/>
    <ds:schemaRef ds:uri="http://schemas.microsoft.com/office/infopath/2007/PartnerControls"/>
    <ds:schemaRef ds:uri="0a71efe2-5848-4835-ba9f-8faf6945352d"/>
    <ds:schemaRef ds:uri="831850e5-ca91-43e1-afa5-cf72b3205c9b"/>
  </ds:schemaRefs>
</ds:datastoreItem>
</file>

<file path=customXml/itemProps3.xml><?xml version="1.0" encoding="utf-8"?>
<ds:datastoreItem xmlns:ds="http://schemas.openxmlformats.org/officeDocument/2006/customXml" ds:itemID="{038CBEB0-52AC-40B1-BD98-EC179E814D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1850e5-ca91-43e1-afa5-cf72b3205c9b"/>
    <ds:schemaRef ds:uri="0a71efe2-5848-4835-ba9f-8faf6945352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26ac4c88-3875-4bc2-aac4-371aa6c119c2}" enabled="1" method="Standard" siteId="{a289e960-a538-4db3-adf0-845b57e616c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11</cp:revision>
  <dcterms:created xsi:type="dcterms:W3CDTF">2013-01-27T09:14:16Z</dcterms:created>
  <dcterms:modified xsi:type="dcterms:W3CDTF">2026-08-10T11:20:07Z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0x010100F52C4518E1ED9C4C808F6F104771DAF4</vt:lpwstr>
  </property>
  <property fmtid="{D5CDD505-2E9C-101B-9397-08002B2CF9AE}" pid="3" name="MediaServiceImageTags">
    <vt:lpwstr/>
  </property>
</Properties>
</file>